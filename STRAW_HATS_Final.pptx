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9"/>
  </p:notesMasterIdLst>
  <p:sldIdLst>
    <p:sldId id="256" r:id="rId3"/>
    <p:sldId id="257" r:id="rId4"/>
    <p:sldId id="258" r:id="rId5"/>
    <p:sldId id="259" r:id="rId6"/>
    <p:sldId id="260" r:id="rId7"/>
    <p:sldId id="261"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267117-B0A3-4B98-B540-8E997AC7D2F3}">
  <a:tblStyle styleId="{26267117-B0A3-4B98-B540-8E997AC7D2F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5033" autoAdjust="0"/>
  </p:normalViewPr>
  <p:slideViewPr>
    <p:cSldViewPr snapToGrid="0">
      <p:cViewPr varScale="1">
        <p:scale>
          <a:sx n="104" d="100"/>
          <a:sy n="104" d="100"/>
        </p:scale>
        <p:origin x="629" y="58"/>
      </p:cViewPr>
      <p:guideLst>
        <p:guide orient="horz" pos="1620"/>
        <p:guide pos="288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fafaf9c625_2_2: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g3fafaf9c625_2_2: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SLIDE 1 TIPS: This is the only slide judges see before reading further — copy the PS ID, title, theme and category exactly from the portal, and use your REGISTERED team name. Official rule: max 6 slides total including this title slide; final upload must be a PDF export.</a:t>
            </a:r>
            <a:endParaRPr/>
          </a:p>
        </p:txBody>
      </p:sp>
      <p:sp>
        <p:nvSpPr>
          <p:cNvPr id="55" name="Google Shape;55;g3fafaf9c625_2_2: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fafaf9c625_2_24: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g3fafaf9c625_2_24: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SLIDE 2 TIPS: Keep each problem box to one sharp sentence — judges skim. The 'Why We Stand Out' box is where teams most often just restate the idea instead of naming a real point of difference versus an existing/competing solution — be specific.</a:t>
            </a:r>
            <a:endParaRPr/>
          </a:p>
        </p:txBody>
      </p:sp>
      <p:sp>
        <p:nvSpPr>
          <p:cNvPr id="77" name="Google Shape;77;g3fafaf9c625_2_24: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fafaf9c625_2_72: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g3fafaf9c625_2_72: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dirty="0"/>
              <a:t>SLIDE 3 TIPS: Judges use this slide to pressure-test feasibility claims made elsewhere in the deck. A real, labelled architecture diagram plus a working prototype/demo link or QR code consistently outperforms idea-only entries.</a:t>
            </a:r>
            <a:endParaRPr dirty="0"/>
          </a:p>
        </p:txBody>
      </p:sp>
      <p:sp>
        <p:nvSpPr>
          <p:cNvPr id="126" name="Google Shape;126;g3fafaf9c625_2_72: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fafaf9c625_2_133: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fafaf9c625_2_133: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dirty="0"/>
              <a:t>SLIDE 4 TIPS: Don't present only strengths — naming 2-3 real, specific risks with a credible mitigation reads as maturity. Keep the comparison table honest and sourced; overclaiming cost/market numbers without evidence is a common way teams lose credibility here.</a:t>
            </a:r>
            <a:endParaRPr dirty="0"/>
          </a:p>
        </p:txBody>
      </p:sp>
      <p:sp>
        <p:nvSpPr>
          <p:cNvPr id="188" name="Google Shape;188;g3fafaf9c625_2_133: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fafaf9c625_2_161: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g3fafaf9c625_2_161: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SLIDE 5 TIPS: Numbers beat adjectives — quantify impact (%, ₹, number of beneficiaries) rather than saying 'huge impact'. Tying the outcome to a named government scheme or SDG is rewarded when the link is genuine, not forced.</a:t>
            </a:r>
            <a:endParaRPr/>
          </a:p>
        </p:txBody>
      </p:sp>
      <p:sp>
        <p:nvSpPr>
          <p:cNvPr id="217" name="Google Shape;217;g3fafaf9c625_2_161: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fafaf9c625_2_203: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fafaf9c625_2_203: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SLIDE 6 TIPS: Real, checkable citations with links read as credibility; generic references ('Wikipedia', 'Google') read as a red flag. Explicitly studying at least one existing/competing solution and stating the delta is a consistent trait in winning decks.</a:t>
            </a:r>
            <a:endParaRPr/>
          </a:p>
        </p:txBody>
      </p:sp>
      <p:sp>
        <p:nvSpPr>
          <p:cNvPr id="260" name="Google Shape;260;g3fafaf9c625_2_203: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hyperlink" Target="https://autode.sk/3V3Bvat" TargetMode="External"/><Relationship Id="rId4" Type="http://schemas.openxmlformats.org/officeDocument/2006/relationships/hyperlink" Target="https://aeris-resilient-health-system.agenu.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cxnSp>
        <p:nvCxnSpPr>
          <p:cNvPr id="62" name="Google Shape;62;p15"/>
          <p:cNvCxnSpPr/>
          <p:nvPr/>
        </p:nvCxnSpPr>
        <p:spPr>
          <a:xfrm>
            <a:off x="240031" y="1286053"/>
            <a:ext cx="8732291" cy="0"/>
          </a:xfrm>
          <a:prstGeom prst="straightConnector1">
            <a:avLst/>
          </a:prstGeom>
          <a:noFill/>
          <a:ln w="15875" cap="flat" cmpd="sng">
            <a:solidFill>
              <a:srgbClr val="2C3E50"/>
            </a:solidFill>
            <a:prstDash val="dash"/>
            <a:round/>
            <a:headEnd type="none" w="sm" len="sm"/>
            <a:tailEnd type="none" w="sm" len="sm"/>
          </a:ln>
        </p:spPr>
      </p:cxnSp>
      <p:sp>
        <p:nvSpPr>
          <p:cNvPr id="64" name="Google Shape;64;p15"/>
          <p:cNvSpPr txBox="1"/>
          <p:nvPr/>
        </p:nvSpPr>
        <p:spPr>
          <a:xfrm>
            <a:off x="8641081" y="5012535"/>
            <a:ext cx="294894" cy="19202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07B7C"/>
              </a:buClr>
              <a:buSzPts val="700"/>
              <a:buFont typeface="Calibri"/>
              <a:buNone/>
            </a:pPr>
            <a:r>
              <a:rPr lang="en" sz="700" b="0" i="0" u="none" strike="noStrike" cap="none">
                <a:solidFill>
                  <a:srgbClr val="707B7C"/>
                </a:solidFill>
                <a:latin typeface="Cambria" panose="02040503050406030204" pitchFamily="18" charset="0"/>
                <a:ea typeface="Cambria" panose="02040503050406030204" pitchFamily="18" charset="0"/>
                <a:cs typeface="Calibri"/>
                <a:sym typeface="Calibri"/>
              </a:rPr>
              <a:t>1</a:t>
            </a:r>
            <a:endParaRPr sz="700" b="0" i="0" u="none" strike="noStrike" cap="none">
              <a:solidFill>
                <a:schemeClr val="dk1"/>
              </a:solidFill>
              <a:latin typeface="Cambria" panose="02040503050406030204" pitchFamily="18" charset="0"/>
              <a:ea typeface="Cambria" panose="02040503050406030204" pitchFamily="18" charset="0"/>
              <a:cs typeface="Calibri"/>
              <a:sym typeface="Calibri"/>
            </a:endParaRPr>
          </a:p>
        </p:txBody>
      </p:sp>
      <p:sp>
        <p:nvSpPr>
          <p:cNvPr id="65" name="Google Shape;65;p15"/>
          <p:cNvSpPr txBox="1"/>
          <p:nvPr/>
        </p:nvSpPr>
        <p:spPr>
          <a:xfrm>
            <a:off x="1811638" y="353517"/>
            <a:ext cx="5520725" cy="729398"/>
          </a:xfrm>
          <a:prstGeom prst="rect">
            <a:avLst/>
          </a:prstGeom>
          <a:noFill/>
          <a:ln>
            <a:noFill/>
          </a:ln>
        </p:spPr>
        <p:txBody>
          <a:bodyPr spcFirstLastPara="1" wrap="square" lIns="0" tIns="0" rIns="0" bIns="0" anchor="t" anchorCtr="0">
            <a:noAutofit/>
          </a:bodyPr>
          <a:lstStyle/>
          <a:p>
            <a:pPr algn="ctr">
              <a:buClr>
                <a:srgbClr val="154360"/>
              </a:buClr>
              <a:buSzPts val="1600"/>
            </a:pPr>
            <a:r>
              <a:rPr lang="en-IN" sz="2400" b="1" dirty="0">
                <a:latin typeface="Cambria" panose="02040503050406030204" pitchFamily="18" charset="0"/>
                <a:ea typeface="Cambria" panose="02040503050406030204" pitchFamily="18" charset="0"/>
                <a:cs typeface="Times New Roman" panose="02020603050405020304" pitchFamily="18" charset="0"/>
              </a:rPr>
              <a:t>AI-Powered Personal Health Companion for Early Risk Detection</a:t>
            </a:r>
            <a:endParaRPr lang="en-IN" sz="2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AB20170-8178-61CE-9E15-68B992068E26}"/>
              </a:ext>
            </a:extLst>
          </p:cNvPr>
          <p:cNvSpPr txBox="1"/>
          <p:nvPr/>
        </p:nvSpPr>
        <p:spPr>
          <a:xfrm>
            <a:off x="414909" y="1489192"/>
            <a:ext cx="8314182" cy="3231654"/>
          </a:xfrm>
          <a:prstGeom prst="rect">
            <a:avLst/>
          </a:prstGeom>
          <a:noFill/>
        </p:spPr>
        <p:txBody>
          <a:bodyPr wrap="square" rtlCol="0">
            <a:spAutoFit/>
          </a:bodyPr>
          <a:lstStyle/>
          <a:p>
            <a:pPr algn="just"/>
            <a:r>
              <a:rPr lang="en-IN" sz="18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Problem Statement Title -</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 </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rPr>
              <a:t>A secure, AI-powered Personal Health Companion that delivers </a:t>
            </a:r>
            <a:r>
              <a:rPr lang="en-US" sz="1800" dirty="0">
                <a:solidFill>
                  <a:schemeClr val="tx1"/>
                </a:solidFill>
                <a:latin typeface="Cambria" panose="02040503050406030204" pitchFamily="18" charset="0"/>
                <a:ea typeface="Cambria" panose="02040503050406030204" pitchFamily="18" charset="0"/>
                <a:cs typeface="Times New Roman" panose="02020603050405020304" pitchFamily="18" charset="0"/>
              </a:rPr>
              <a:t>real-time, privacy-preserving health monitoring and early warning capabilities, helping individuals recognize health risks before they become emergencies. The solution should improve resilience during heat waves, floods, pollution events, and other disasters common in India while enabling continuous health support through on-device intelligence.</a:t>
            </a:r>
          </a:p>
          <a:p>
            <a:pPr algn="just"/>
            <a:endParaRPr lang="en-US" sz="12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endParaRPr>
          </a:p>
          <a:p>
            <a:pPr algn="just"/>
            <a:r>
              <a:rPr lang="en-IN" sz="18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Theme -</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 </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rPr>
              <a:t>MedTech / </a:t>
            </a:r>
            <a:r>
              <a:rPr lang="en-IN" sz="1800" dirty="0" err="1">
                <a:solidFill>
                  <a:schemeClr val="tx1"/>
                </a:solidFill>
                <a:latin typeface="Cambria" panose="02040503050406030204" pitchFamily="18" charset="0"/>
                <a:ea typeface="Cambria" panose="02040503050406030204" pitchFamily="18" charset="0"/>
                <a:cs typeface="Times New Roman" panose="02020603050405020304" pitchFamily="18" charset="0"/>
              </a:rPr>
              <a:t>BioTech</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rPr>
              <a:t> / HealthTech</a:t>
            </a:r>
          </a:p>
          <a:p>
            <a:pPr algn="just"/>
            <a:endParaRPr lang="en-IN" sz="12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endParaRPr>
          </a:p>
          <a:p>
            <a:pPr algn="just"/>
            <a:r>
              <a:rPr lang="en-IN" sz="18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Category –</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 Hardware</a:t>
            </a:r>
          </a:p>
          <a:p>
            <a:pPr algn="just"/>
            <a:endParaRPr lang="en-IN" sz="12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endParaRPr>
          </a:p>
          <a:p>
            <a:pPr algn="just"/>
            <a:r>
              <a:rPr lang="en-IN" sz="18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Team Name –</a:t>
            </a:r>
            <a:r>
              <a:rPr lang="en-IN" sz="1800"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Calibri"/>
              </a:rPr>
              <a:t> STRAW HATS</a:t>
            </a:r>
          </a:p>
        </p:txBody>
      </p:sp>
      <p:pic>
        <p:nvPicPr>
          <p:cNvPr id="5" name="Picture 4">
            <a:extLst>
              <a:ext uri="{FF2B5EF4-FFF2-40B4-BE49-F238E27FC236}">
                <a16:creationId xmlns:a16="http://schemas.microsoft.com/office/drawing/2014/main" id="{985B5F5D-B7C8-9B20-580B-871E6717F5AC}"/>
              </a:ext>
            </a:extLst>
          </p:cNvPr>
          <p:cNvPicPr>
            <a:picLocks noChangeAspect="1"/>
          </p:cNvPicPr>
          <p:nvPr/>
        </p:nvPicPr>
        <p:blipFill>
          <a:blip r:embed="rId3"/>
          <a:stretch>
            <a:fillRect/>
          </a:stretch>
        </p:blipFill>
        <p:spPr>
          <a:xfrm>
            <a:off x="240031" y="233324"/>
            <a:ext cx="728891" cy="6165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
        <p:cNvGrpSpPr/>
        <p:nvPr/>
      </p:nvGrpSpPr>
      <p:grpSpPr>
        <a:xfrm>
          <a:off x="0" y="0"/>
          <a:ext cx="0" cy="0"/>
          <a:chOff x="0" y="0"/>
          <a:chExt cx="0" cy="0"/>
        </a:xfrm>
      </p:grpSpPr>
      <p:sp>
        <p:nvSpPr>
          <p:cNvPr id="82" name="Google Shape;82;p16"/>
          <p:cNvSpPr txBox="1"/>
          <p:nvPr/>
        </p:nvSpPr>
        <p:spPr>
          <a:xfrm>
            <a:off x="2056607" y="9909"/>
            <a:ext cx="521208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900"/>
              <a:buFont typeface="Cambria"/>
              <a:buNone/>
            </a:pPr>
            <a:r>
              <a:rPr lang="en" sz="1900" b="1" i="0" u="none" strike="noStrike" cap="none" dirty="0">
                <a:solidFill>
                  <a:srgbClr val="154360"/>
                </a:solidFill>
                <a:latin typeface="Cambria" panose="02040503050406030204" pitchFamily="18" charset="0"/>
                <a:ea typeface="Cambria" panose="02040503050406030204" pitchFamily="18" charset="0"/>
                <a:cs typeface="Cambria"/>
                <a:sym typeface="Cambria"/>
              </a:rPr>
              <a:t>PROPOSED SOLUTION</a:t>
            </a:r>
            <a:endParaRPr sz="19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cxnSp>
        <p:nvCxnSpPr>
          <p:cNvPr id="84" name="Google Shape;84;p16"/>
          <p:cNvCxnSpPr/>
          <p:nvPr/>
        </p:nvCxnSpPr>
        <p:spPr>
          <a:xfrm>
            <a:off x="205854" y="776479"/>
            <a:ext cx="8732291" cy="0"/>
          </a:xfrm>
          <a:prstGeom prst="straightConnector1">
            <a:avLst/>
          </a:prstGeom>
          <a:noFill/>
          <a:ln w="15875" cap="flat" cmpd="sng">
            <a:solidFill>
              <a:srgbClr val="2C3E50"/>
            </a:solidFill>
            <a:prstDash val="dash"/>
            <a:round/>
            <a:headEnd type="none" w="sm" len="sm"/>
            <a:tailEnd type="none" w="sm" len="sm"/>
          </a:ln>
        </p:spPr>
      </p:cxnSp>
      <p:sp>
        <p:nvSpPr>
          <p:cNvPr id="86" name="Google Shape;86;p16"/>
          <p:cNvSpPr txBox="1"/>
          <p:nvPr/>
        </p:nvSpPr>
        <p:spPr>
          <a:xfrm>
            <a:off x="8641080" y="4924044"/>
            <a:ext cx="294894" cy="19202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07B7C"/>
              </a:buClr>
              <a:buSzPts val="700"/>
              <a:buFont typeface="Calibri"/>
              <a:buNone/>
            </a:pPr>
            <a:r>
              <a:rPr lang="en" sz="700" b="0" i="0" u="none" strike="noStrike" cap="none">
                <a:solidFill>
                  <a:srgbClr val="707B7C"/>
                </a:solidFill>
                <a:latin typeface="Cambria" panose="02040503050406030204" pitchFamily="18" charset="0"/>
                <a:ea typeface="Cambria" panose="02040503050406030204" pitchFamily="18" charset="0"/>
                <a:cs typeface="Calibri"/>
                <a:sym typeface="Calibri"/>
              </a:rPr>
              <a:t>2</a:t>
            </a:r>
            <a:endParaRPr sz="700" b="0" i="0" u="none" strike="noStrike" cap="none">
              <a:solidFill>
                <a:schemeClr val="dk1"/>
              </a:solidFill>
              <a:latin typeface="Cambria" panose="02040503050406030204" pitchFamily="18" charset="0"/>
              <a:ea typeface="Cambria" panose="02040503050406030204" pitchFamily="18" charset="0"/>
              <a:cs typeface="Calibri"/>
              <a:sym typeface="Calibri"/>
            </a:endParaRPr>
          </a:p>
        </p:txBody>
      </p:sp>
      <p:sp>
        <p:nvSpPr>
          <p:cNvPr id="87" name="Google Shape;87;p16"/>
          <p:cNvSpPr txBox="1"/>
          <p:nvPr/>
        </p:nvSpPr>
        <p:spPr>
          <a:xfrm>
            <a:off x="581823" y="852088"/>
            <a:ext cx="2640330" cy="24003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A6F1E"/>
              </a:buClr>
              <a:buSzPts val="1200"/>
              <a:buFont typeface="Cambria"/>
              <a:buNone/>
            </a:pPr>
            <a:r>
              <a:rPr lang="en" sz="1200" b="1" i="0" u="none" strike="noStrike" cap="none" dirty="0">
                <a:solidFill>
                  <a:srgbClr val="CA6F1E"/>
                </a:solidFill>
                <a:latin typeface="Cambria" panose="02040503050406030204" pitchFamily="18" charset="0"/>
                <a:ea typeface="Cambria" panose="02040503050406030204" pitchFamily="18" charset="0"/>
                <a:cs typeface="Cambria"/>
                <a:sym typeface="Cambria"/>
              </a:rPr>
              <a:t>Problem Vs Our Solution</a:t>
            </a:r>
            <a:endParaRPr sz="12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96" name="Google Shape;96;p16"/>
          <p:cNvSpPr txBox="1"/>
          <p:nvPr/>
        </p:nvSpPr>
        <p:spPr>
          <a:xfrm>
            <a:off x="4977767" y="872014"/>
            <a:ext cx="2640330" cy="24003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96F3D"/>
              </a:buClr>
              <a:buSzPts val="1200"/>
              <a:buFont typeface="Cambria"/>
              <a:buNone/>
            </a:pPr>
            <a:r>
              <a:rPr lang="en" sz="1200" b="1" i="0" u="none" strike="noStrike" cap="none" dirty="0">
                <a:solidFill>
                  <a:srgbClr val="196F3D"/>
                </a:solidFill>
                <a:latin typeface="Cambria" panose="02040503050406030204" pitchFamily="18" charset="0"/>
                <a:ea typeface="Cambria" panose="02040503050406030204" pitchFamily="18" charset="0"/>
                <a:cs typeface="Cambria"/>
                <a:sym typeface="Cambria"/>
              </a:rPr>
              <a:t>Our Solution</a:t>
            </a:r>
            <a:endParaRPr sz="12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98" name="Google Shape;98;p16"/>
          <p:cNvSpPr txBox="1"/>
          <p:nvPr/>
        </p:nvSpPr>
        <p:spPr>
          <a:xfrm>
            <a:off x="3154680" y="1268730"/>
            <a:ext cx="236601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endParaRPr sz="9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101" name="Google Shape;101;p16"/>
          <p:cNvSpPr txBox="1"/>
          <p:nvPr/>
        </p:nvSpPr>
        <p:spPr>
          <a:xfrm>
            <a:off x="-334362" y="3847578"/>
            <a:ext cx="2640330" cy="24003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A6F1E"/>
              </a:buClr>
              <a:buSzPts val="1100"/>
              <a:buFont typeface="Cambria"/>
              <a:buNone/>
            </a:pPr>
            <a:r>
              <a:rPr lang="en" sz="1100" b="1" i="0" u="none" strike="noStrike" cap="none" dirty="0">
                <a:solidFill>
                  <a:srgbClr val="CA6F1E"/>
                </a:solidFill>
                <a:latin typeface="Cambria" panose="02040503050406030204" pitchFamily="18" charset="0"/>
                <a:ea typeface="Cambria" panose="02040503050406030204" pitchFamily="18" charset="0"/>
                <a:cs typeface="Cambria"/>
                <a:sym typeface="Cambria"/>
              </a:rPr>
              <a:t>Why We Stand Out</a:t>
            </a:r>
            <a:endParaRPr sz="11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102" name="Google Shape;102;p16"/>
          <p:cNvSpPr/>
          <p:nvPr/>
        </p:nvSpPr>
        <p:spPr>
          <a:xfrm>
            <a:off x="661917" y="4160951"/>
            <a:ext cx="7121913" cy="763093"/>
          </a:xfrm>
          <a:prstGeom prst="rect">
            <a:avLst/>
          </a:prstGeom>
          <a:solidFill>
            <a:srgbClr val="FEF9E7"/>
          </a:solidFill>
          <a:ln w="12700" cap="flat" cmpd="sng">
            <a:solidFill>
              <a:srgbClr val="D4AC0D"/>
            </a:solidFill>
            <a:prstDash val="dash"/>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latin typeface="Cambria" panose="02040503050406030204" pitchFamily="18" charset="0"/>
              <a:ea typeface="Cambria" panose="02040503050406030204" pitchFamily="18" charset="0"/>
            </a:endParaRPr>
          </a:p>
        </p:txBody>
      </p:sp>
      <p:sp>
        <p:nvSpPr>
          <p:cNvPr id="103" name="Google Shape;103;p16"/>
          <p:cNvSpPr txBox="1"/>
          <p:nvPr/>
        </p:nvSpPr>
        <p:spPr>
          <a:xfrm>
            <a:off x="832196" y="4213757"/>
            <a:ext cx="6614485" cy="710287"/>
          </a:xfrm>
          <a:prstGeom prst="rect">
            <a:avLst/>
          </a:prstGeom>
          <a:noFill/>
          <a:ln>
            <a:noFill/>
          </a:ln>
        </p:spPr>
        <p:txBody>
          <a:bodyPr spcFirstLastPara="1" wrap="square" lIns="0" tIns="0" rIns="0" bIns="0" anchor="t" anchorCtr="0">
            <a:noAutofit/>
          </a:bodyPr>
          <a:lstStyle/>
          <a:p>
            <a:pPr marL="114300" lvl="0" indent="-114300">
              <a:buClr>
                <a:srgbClr val="1B2631"/>
              </a:buClr>
              <a:buSzPts val="800"/>
              <a:buFont typeface="Calibri"/>
              <a:buChar char="•"/>
            </a:pPr>
            <a:r>
              <a:rPr lang="en-IN" sz="800" b="1" dirty="0">
                <a:latin typeface="Cambria" panose="02040503050406030204" pitchFamily="18" charset="0"/>
                <a:ea typeface="Cambria" panose="02040503050406030204" pitchFamily="18" charset="0"/>
              </a:rPr>
              <a:t>Multi-Modal Risk Correlation : </a:t>
            </a:r>
            <a:r>
              <a:rPr lang="en-IN" sz="800" dirty="0">
                <a:latin typeface="Cambria" panose="02040503050406030204" pitchFamily="18" charset="0"/>
                <a:ea typeface="Cambria" panose="02040503050406030204" pitchFamily="18" charset="0"/>
              </a:rPr>
              <a:t>Correlates </a:t>
            </a:r>
            <a:r>
              <a:rPr lang="en-IN" sz="800" b="1" dirty="0">
                <a:latin typeface="Cambria" panose="02040503050406030204" pitchFamily="18" charset="0"/>
                <a:ea typeface="Cambria" panose="02040503050406030204" pitchFamily="18" charset="0"/>
              </a:rPr>
              <a:t>physiological + mobility + environmental signals</a:t>
            </a:r>
            <a:r>
              <a:rPr lang="en-IN" sz="800" dirty="0">
                <a:latin typeface="Cambria" panose="02040503050406030204" pitchFamily="18" charset="0"/>
                <a:ea typeface="Cambria" panose="02040503050406030204" pitchFamily="18" charset="0"/>
              </a:rPr>
              <a:t> instead of interpreting isolated sensor values.</a:t>
            </a:r>
          </a:p>
          <a:p>
            <a:pPr marL="114300" lvl="0" indent="-114300">
              <a:spcBef>
                <a:spcPts val="800"/>
              </a:spcBef>
              <a:buClr>
                <a:srgbClr val="1B2631"/>
              </a:buClr>
              <a:buSzPts val="800"/>
              <a:buFont typeface="Calibri"/>
              <a:buChar char="•"/>
            </a:pPr>
            <a:r>
              <a:rPr lang="en-IN" sz="800" dirty="0">
                <a:latin typeface="Cambria" panose="02040503050406030204" pitchFamily="18" charset="0"/>
                <a:ea typeface="Cambria" panose="02040503050406030204" pitchFamily="18" charset="0"/>
              </a:rPr>
              <a:t>Converts </a:t>
            </a:r>
            <a:r>
              <a:rPr lang="en-IN" sz="800" b="1" dirty="0">
                <a:latin typeface="Cambria" panose="02040503050406030204" pitchFamily="18" charset="0"/>
                <a:ea typeface="Cambria" panose="02040503050406030204" pitchFamily="18" charset="0"/>
              </a:rPr>
              <a:t>interacting signal changes </a:t>
            </a:r>
            <a:r>
              <a:rPr lang="en-IN" sz="800" dirty="0">
                <a:latin typeface="Cambria" panose="02040503050406030204" pitchFamily="18" charset="0"/>
                <a:ea typeface="Cambria" panose="02040503050406030204" pitchFamily="18" charset="0"/>
              </a:rPr>
              <a:t>into one interpretable </a:t>
            </a:r>
            <a:r>
              <a:rPr lang="en-IN" sz="800" b="1" dirty="0">
                <a:latin typeface="Cambria" panose="02040503050406030204" pitchFamily="18" charset="0"/>
                <a:ea typeface="Cambria" panose="02040503050406030204" pitchFamily="18" charset="0"/>
              </a:rPr>
              <a:t>0–100 AERIS Risk Index </a:t>
            </a:r>
            <a:r>
              <a:rPr lang="en-IN" sz="800" dirty="0">
                <a:latin typeface="Cambria" panose="02040503050406030204" pitchFamily="18" charset="0"/>
                <a:ea typeface="Cambria" panose="02040503050406030204" pitchFamily="18" charset="0"/>
              </a:rPr>
              <a:t>instead of isolated sensor alerts</a:t>
            </a:r>
          </a:p>
          <a:p>
            <a:pPr marL="114300" lvl="0" indent="-114300">
              <a:spcBef>
                <a:spcPts val="800"/>
              </a:spcBef>
              <a:buClr>
                <a:srgbClr val="1B2631"/>
              </a:buClr>
              <a:buSzPts val="800"/>
              <a:buFont typeface="Calibri"/>
              <a:buChar char="•"/>
            </a:pPr>
            <a:r>
              <a:rPr lang="en-IN" sz="800" b="1" dirty="0">
                <a:latin typeface="Cambria" panose="02040503050406030204" pitchFamily="18" charset="0"/>
                <a:ea typeface="Cambria" panose="02040503050406030204" pitchFamily="18" charset="0"/>
              </a:rPr>
              <a:t>RISK-TO-ACTION, NOT JUST MONITORING</a:t>
            </a:r>
            <a:br>
              <a:rPr lang="en-IN" sz="800" dirty="0">
                <a:latin typeface="Cambria" panose="02040503050406030204" pitchFamily="18" charset="0"/>
                <a:ea typeface="Cambria" panose="02040503050406030204" pitchFamily="18" charset="0"/>
              </a:rPr>
            </a:br>
            <a:r>
              <a:rPr lang="en-IN" sz="800" dirty="0">
                <a:latin typeface="Cambria" panose="02040503050406030204" pitchFamily="18" charset="0"/>
                <a:ea typeface="Cambria" panose="02040503050406030204" pitchFamily="18" charset="0"/>
              </a:rPr>
              <a:t>Converts detected patterns into a </a:t>
            </a:r>
            <a:r>
              <a:rPr lang="en-IN" sz="800" b="1" dirty="0">
                <a:latin typeface="Cambria" panose="02040503050406030204" pitchFamily="18" charset="0"/>
                <a:ea typeface="Cambria" panose="02040503050406030204" pitchFamily="18" charset="0"/>
              </a:rPr>
              <a:t>0–100 AERIS Risk Index → guidance → alerts → escalation</a:t>
            </a:r>
            <a:r>
              <a:rPr lang="en-IN" sz="800" dirty="0">
                <a:latin typeface="Cambria" panose="02040503050406030204" pitchFamily="18" charset="0"/>
                <a:ea typeface="Cambria" panose="02040503050406030204" pitchFamily="18" charset="0"/>
              </a:rPr>
              <a:t>.</a:t>
            </a:r>
            <a:endParaRPr lang="en-US" sz="8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6" name="TextBox 5">
            <a:extLst>
              <a:ext uri="{FF2B5EF4-FFF2-40B4-BE49-F238E27FC236}">
                <a16:creationId xmlns:a16="http://schemas.microsoft.com/office/drawing/2014/main" id="{0134BB6D-8BE4-E760-58B9-679AB024355A}"/>
              </a:ext>
            </a:extLst>
          </p:cNvPr>
          <p:cNvSpPr txBox="1"/>
          <p:nvPr/>
        </p:nvSpPr>
        <p:spPr>
          <a:xfrm>
            <a:off x="2556324" y="413837"/>
            <a:ext cx="5928732" cy="246221"/>
          </a:xfrm>
          <a:prstGeom prst="rect">
            <a:avLst/>
          </a:prstGeom>
          <a:noFill/>
        </p:spPr>
        <p:txBody>
          <a:bodyPr wrap="square" rtlCol="0">
            <a:spAutoFit/>
          </a:bodyPr>
          <a:lstStyle/>
          <a:p>
            <a:r>
              <a:rPr lang="en-IN" sz="1000" b="1" dirty="0">
                <a:latin typeface="Cambria" panose="02040503050406030204" pitchFamily="18" charset="0"/>
                <a:ea typeface="Cambria" panose="02040503050406030204" pitchFamily="18" charset="0"/>
              </a:rPr>
              <a:t>AERIS: AI-BASED EARLY RISK &amp; INTELLIGENT SAFETY COMPANION</a:t>
            </a:r>
          </a:p>
        </p:txBody>
      </p:sp>
      <p:graphicFrame>
        <p:nvGraphicFramePr>
          <p:cNvPr id="10" name="Table 9">
            <a:extLst>
              <a:ext uri="{FF2B5EF4-FFF2-40B4-BE49-F238E27FC236}">
                <a16:creationId xmlns:a16="http://schemas.microsoft.com/office/drawing/2014/main" id="{B98BB562-27C5-EB99-111E-99129DAE14BB}"/>
              </a:ext>
            </a:extLst>
          </p:cNvPr>
          <p:cNvGraphicFramePr>
            <a:graphicFrameLocks noGrp="1"/>
          </p:cNvGraphicFramePr>
          <p:nvPr>
            <p:extLst>
              <p:ext uri="{D42A27DB-BD31-4B8C-83A1-F6EECF244321}">
                <p14:modId xmlns:p14="http://schemas.microsoft.com/office/powerpoint/2010/main" val="1120099959"/>
              </p:ext>
            </p:extLst>
          </p:nvPr>
        </p:nvGraphicFramePr>
        <p:xfrm>
          <a:off x="253689" y="1146549"/>
          <a:ext cx="3061938" cy="2651760"/>
        </p:xfrm>
        <a:graphic>
          <a:graphicData uri="http://schemas.openxmlformats.org/drawingml/2006/table">
            <a:tbl>
              <a:tblPr firstRow="1" bandRow="1">
                <a:tableStyleId>{26267117-B0A3-4B98-B540-8E997AC7D2F3}</a:tableStyleId>
              </a:tblPr>
              <a:tblGrid>
                <a:gridCol w="1530969">
                  <a:extLst>
                    <a:ext uri="{9D8B030D-6E8A-4147-A177-3AD203B41FA5}">
                      <a16:colId xmlns:a16="http://schemas.microsoft.com/office/drawing/2014/main" val="3772031416"/>
                    </a:ext>
                  </a:extLst>
                </a:gridCol>
                <a:gridCol w="1530969">
                  <a:extLst>
                    <a:ext uri="{9D8B030D-6E8A-4147-A177-3AD203B41FA5}">
                      <a16:colId xmlns:a16="http://schemas.microsoft.com/office/drawing/2014/main" val="4133432665"/>
                    </a:ext>
                  </a:extLst>
                </a:gridCol>
              </a:tblGrid>
              <a:tr h="239127">
                <a:tc>
                  <a:txBody>
                    <a:bodyPr/>
                    <a:lstStyle/>
                    <a:p>
                      <a:pPr>
                        <a:buNone/>
                      </a:pPr>
                      <a:r>
                        <a:rPr lang="en-IN" sz="1000" b="1" dirty="0"/>
                        <a:t>Existing Problem</a:t>
                      </a:r>
                      <a:endParaRPr lang="en-IN" sz="1000" dirty="0"/>
                    </a:p>
                  </a:txBody>
                  <a:tcPr anchor="ctr"/>
                </a:tc>
                <a:tc>
                  <a:txBody>
                    <a:bodyPr/>
                    <a:lstStyle/>
                    <a:p>
                      <a:pPr>
                        <a:buNone/>
                      </a:pPr>
                      <a:r>
                        <a:rPr lang="en-IN" sz="1000" b="1"/>
                        <a:t>AERIS Solution</a:t>
                      </a:r>
                      <a:endParaRPr lang="en-IN" sz="1000"/>
                    </a:p>
                  </a:txBody>
                  <a:tcPr anchor="ctr"/>
                </a:tc>
                <a:extLst>
                  <a:ext uri="{0D108BD9-81ED-4DB2-BD59-A6C34878D82A}">
                    <a16:rowId xmlns:a16="http://schemas.microsoft.com/office/drawing/2014/main" val="2310113115"/>
                  </a:ext>
                </a:extLst>
              </a:tr>
              <a:tr h="239127">
                <a:tc>
                  <a:txBody>
                    <a:bodyPr/>
                    <a:lstStyle/>
                    <a:p>
                      <a:pPr>
                        <a:buNone/>
                      </a:pPr>
                      <a:r>
                        <a:rPr lang="en-IN" sz="1000"/>
                        <a:t>Single-sensor monitoring</a:t>
                      </a:r>
                    </a:p>
                  </a:txBody>
                  <a:tcPr anchor="ctr"/>
                </a:tc>
                <a:tc>
                  <a:txBody>
                    <a:bodyPr/>
                    <a:lstStyle/>
                    <a:p>
                      <a:pPr>
                        <a:buNone/>
                      </a:pPr>
                      <a:r>
                        <a:rPr lang="en-IN" sz="1000"/>
                        <a:t>Multi-sensor risk detection</a:t>
                      </a:r>
                    </a:p>
                  </a:txBody>
                  <a:tcPr anchor="ctr"/>
                </a:tc>
                <a:extLst>
                  <a:ext uri="{0D108BD9-81ED-4DB2-BD59-A6C34878D82A}">
                    <a16:rowId xmlns:a16="http://schemas.microsoft.com/office/drawing/2014/main" val="2426669761"/>
                  </a:ext>
                </a:extLst>
              </a:tr>
              <a:tr h="239127">
                <a:tc>
                  <a:txBody>
                    <a:bodyPr/>
                    <a:lstStyle/>
                    <a:p>
                      <a:pPr>
                        <a:buNone/>
                      </a:pPr>
                      <a:r>
                        <a:rPr lang="en-IN" sz="1000"/>
                        <a:t>Fixed health thresholds</a:t>
                      </a:r>
                    </a:p>
                  </a:txBody>
                  <a:tcPr anchor="ctr"/>
                </a:tc>
                <a:tc>
                  <a:txBody>
                    <a:bodyPr/>
                    <a:lstStyle/>
                    <a:p>
                      <a:pPr>
                        <a:buNone/>
                      </a:pPr>
                      <a:r>
                        <a:rPr lang="en-IN" sz="1000"/>
                        <a:t>Personal baseline</a:t>
                      </a:r>
                    </a:p>
                  </a:txBody>
                  <a:tcPr anchor="ctr"/>
                </a:tc>
                <a:extLst>
                  <a:ext uri="{0D108BD9-81ED-4DB2-BD59-A6C34878D82A}">
                    <a16:rowId xmlns:a16="http://schemas.microsoft.com/office/drawing/2014/main" val="2919249668"/>
                  </a:ext>
                </a:extLst>
              </a:tr>
              <a:tr h="239127">
                <a:tc>
                  <a:txBody>
                    <a:bodyPr/>
                    <a:lstStyle/>
                    <a:p>
                      <a:pPr>
                        <a:buNone/>
                      </a:pPr>
                      <a:r>
                        <a:rPr lang="en-IN" sz="1000"/>
                        <a:t>Internet dependency</a:t>
                      </a:r>
                    </a:p>
                  </a:txBody>
                  <a:tcPr anchor="ctr"/>
                </a:tc>
                <a:tc>
                  <a:txBody>
                    <a:bodyPr/>
                    <a:lstStyle/>
                    <a:p>
                      <a:pPr>
                        <a:buNone/>
                      </a:pPr>
                      <a:r>
                        <a:rPr lang="en-IN" sz="1000"/>
                        <a:t>Online + Offline LoRa</a:t>
                      </a:r>
                    </a:p>
                  </a:txBody>
                  <a:tcPr anchor="ctr"/>
                </a:tc>
                <a:extLst>
                  <a:ext uri="{0D108BD9-81ED-4DB2-BD59-A6C34878D82A}">
                    <a16:rowId xmlns:a16="http://schemas.microsoft.com/office/drawing/2014/main" val="637806284"/>
                  </a:ext>
                </a:extLst>
              </a:tr>
              <a:tr h="239127">
                <a:tc>
                  <a:txBody>
                    <a:bodyPr/>
                    <a:lstStyle/>
                    <a:p>
                      <a:pPr>
                        <a:buNone/>
                      </a:pPr>
                      <a:r>
                        <a:rPr lang="en-IN" sz="1000"/>
                        <a:t>Delayed alerts</a:t>
                      </a:r>
                    </a:p>
                  </a:txBody>
                  <a:tcPr anchor="ctr"/>
                </a:tc>
                <a:tc>
                  <a:txBody>
                    <a:bodyPr/>
                    <a:lstStyle/>
                    <a:p>
                      <a:pPr>
                        <a:buNone/>
                      </a:pPr>
                      <a:r>
                        <a:rPr lang="en-IN" sz="1000"/>
                        <a:t>Early risk detection</a:t>
                      </a:r>
                    </a:p>
                  </a:txBody>
                  <a:tcPr anchor="ctr"/>
                </a:tc>
                <a:extLst>
                  <a:ext uri="{0D108BD9-81ED-4DB2-BD59-A6C34878D82A}">
                    <a16:rowId xmlns:a16="http://schemas.microsoft.com/office/drawing/2014/main" val="3975046276"/>
                  </a:ext>
                </a:extLst>
              </a:tr>
              <a:tr h="239127">
                <a:tc>
                  <a:txBody>
                    <a:bodyPr/>
                    <a:lstStyle/>
                    <a:p>
                      <a:pPr>
                        <a:buNone/>
                      </a:pPr>
                      <a:r>
                        <a:rPr lang="en-IN" sz="1000"/>
                        <a:t>No environmental context</a:t>
                      </a:r>
                    </a:p>
                  </a:txBody>
                  <a:tcPr anchor="ctr"/>
                </a:tc>
                <a:tc>
                  <a:txBody>
                    <a:bodyPr/>
                    <a:lstStyle/>
                    <a:p>
                      <a:pPr>
                        <a:buNone/>
                      </a:pPr>
                      <a:r>
                        <a:rPr lang="en-IN" sz="1000" dirty="0"/>
                        <a:t>Health + environment correlation</a:t>
                      </a:r>
                    </a:p>
                  </a:txBody>
                  <a:tcPr anchor="ctr"/>
                </a:tc>
                <a:extLst>
                  <a:ext uri="{0D108BD9-81ED-4DB2-BD59-A6C34878D82A}">
                    <a16:rowId xmlns:a16="http://schemas.microsoft.com/office/drawing/2014/main" val="745579753"/>
                  </a:ext>
                </a:extLst>
              </a:tr>
              <a:tr h="239127">
                <a:tc>
                  <a:txBody>
                    <a:bodyPr/>
                    <a:lstStyle/>
                    <a:p>
                      <a:pPr>
                        <a:buNone/>
                      </a:pPr>
                      <a:r>
                        <a:rPr lang="en-IN" sz="1000"/>
                        <a:t>Raw data monitoring</a:t>
                      </a:r>
                    </a:p>
                  </a:txBody>
                  <a:tcPr anchor="ctr"/>
                </a:tc>
                <a:tc>
                  <a:txBody>
                    <a:bodyPr/>
                    <a:lstStyle/>
                    <a:p>
                      <a:pPr>
                        <a:buNone/>
                      </a:pPr>
                      <a:r>
                        <a:rPr lang="en-IN" sz="1000" b="1"/>
                        <a:t>0–100 Risk Index</a:t>
                      </a:r>
                      <a:endParaRPr lang="en-IN" sz="1000"/>
                    </a:p>
                  </a:txBody>
                  <a:tcPr anchor="ctr"/>
                </a:tc>
                <a:extLst>
                  <a:ext uri="{0D108BD9-81ED-4DB2-BD59-A6C34878D82A}">
                    <a16:rowId xmlns:a16="http://schemas.microsoft.com/office/drawing/2014/main" val="2870314914"/>
                  </a:ext>
                </a:extLst>
              </a:tr>
              <a:tr h="239127">
                <a:tc>
                  <a:txBody>
                    <a:bodyPr/>
                    <a:lstStyle/>
                    <a:p>
                      <a:pPr>
                        <a:buNone/>
                      </a:pPr>
                      <a:r>
                        <a:rPr lang="en-IN" sz="1000"/>
                        <a:t>Limited personalization</a:t>
                      </a:r>
                    </a:p>
                  </a:txBody>
                  <a:tcPr anchor="ctr"/>
                </a:tc>
                <a:tc>
                  <a:txBody>
                    <a:bodyPr/>
                    <a:lstStyle/>
                    <a:p>
                      <a:pPr>
                        <a:buNone/>
                      </a:pPr>
                      <a:r>
                        <a:rPr lang="en-IN" sz="1000" dirty="0"/>
                        <a:t>Personalized guidance</a:t>
                      </a:r>
                    </a:p>
                  </a:txBody>
                  <a:tcPr anchor="ctr"/>
                </a:tc>
                <a:extLst>
                  <a:ext uri="{0D108BD9-81ED-4DB2-BD59-A6C34878D82A}">
                    <a16:rowId xmlns:a16="http://schemas.microsoft.com/office/drawing/2014/main" val="3731145738"/>
                  </a:ext>
                </a:extLst>
              </a:tr>
              <a:tr h="334123">
                <a:tc>
                  <a:txBody>
                    <a:bodyPr/>
                    <a:lstStyle/>
                    <a:p>
                      <a:pPr>
                        <a:buNone/>
                      </a:pPr>
                      <a:r>
                        <a:rPr lang="en-IN" sz="1000"/>
                        <a:t>Cloud-dependent processing</a:t>
                      </a:r>
                    </a:p>
                  </a:txBody>
                  <a:tcPr anchor="ctr"/>
                </a:tc>
                <a:tc>
                  <a:txBody>
                    <a:bodyPr/>
                    <a:lstStyle/>
                    <a:p>
                      <a:pPr>
                        <a:buNone/>
                      </a:pPr>
                      <a:r>
                        <a:rPr lang="en-IN" sz="1000" dirty="0"/>
                        <a:t>Edge-first, privacy-focused processing</a:t>
                      </a:r>
                    </a:p>
                  </a:txBody>
                  <a:tcPr anchor="ctr"/>
                </a:tc>
                <a:extLst>
                  <a:ext uri="{0D108BD9-81ED-4DB2-BD59-A6C34878D82A}">
                    <a16:rowId xmlns:a16="http://schemas.microsoft.com/office/drawing/2014/main" val="1804511235"/>
                  </a:ext>
                </a:extLst>
              </a:tr>
            </a:tbl>
          </a:graphicData>
        </a:graphic>
      </p:graphicFrame>
      <p:pic>
        <p:nvPicPr>
          <p:cNvPr id="3" name="Picture 2">
            <a:extLst>
              <a:ext uri="{FF2B5EF4-FFF2-40B4-BE49-F238E27FC236}">
                <a16:creationId xmlns:a16="http://schemas.microsoft.com/office/drawing/2014/main" id="{FB75C3B3-42B5-723E-B822-ACA8A1380866}"/>
              </a:ext>
            </a:extLst>
          </p:cNvPr>
          <p:cNvPicPr>
            <a:picLocks noChangeAspect="1"/>
          </p:cNvPicPr>
          <p:nvPr/>
        </p:nvPicPr>
        <p:blipFill>
          <a:blip r:embed="rId3"/>
          <a:stretch>
            <a:fillRect/>
          </a:stretch>
        </p:blipFill>
        <p:spPr>
          <a:xfrm>
            <a:off x="3384928" y="1114210"/>
            <a:ext cx="5663380" cy="2865420"/>
          </a:xfrm>
          <a:prstGeom prst="rect">
            <a:avLst/>
          </a:prstGeom>
        </p:spPr>
      </p:pic>
      <p:pic>
        <p:nvPicPr>
          <p:cNvPr id="4" name="Picture 3">
            <a:extLst>
              <a:ext uri="{FF2B5EF4-FFF2-40B4-BE49-F238E27FC236}">
                <a16:creationId xmlns:a16="http://schemas.microsoft.com/office/drawing/2014/main" id="{FAD20F06-619F-A567-9596-2490A18AD964}"/>
              </a:ext>
            </a:extLst>
          </p:cNvPr>
          <p:cNvPicPr>
            <a:picLocks noChangeAspect="1"/>
          </p:cNvPicPr>
          <p:nvPr/>
        </p:nvPicPr>
        <p:blipFill>
          <a:blip r:embed="rId4"/>
          <a:stretch>
            <a:fillRect/>
          </a:stretch>
        </p:blipFill>
        <p:spPr>
          <a:xfrm>
            <a:off x="204766" y="63717"/>
            <a:ext cx="728891" cy="6165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sp>
        <p:nvSpPr>
          <p:cNvPr id="131" name="Google Shape;131;p17"/>
          <p:cNvSpPr txBox="1"/>
          <p:nvPr/>
        </p:nvSpPr>
        <p:spPr>
          <a:xfrm>
            <a:off x="1965846" y="122371"/>
            <a:ext cx="5212080" cy="36416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900"/>
              <a:buFont typeface="Cambria"/>
              <a:buNone/>
            </a:pPr>
            <a:r>
              <a:rPr lang="en" sz="1900" b="1" i="0" u="none" strike="noStrike" cap="none" dirty="0">
                <a:solidFill>
                  <a:srgbClr val="154360"/>
                </a:solidFill>
                <a:latin typeface="Cambria" panose="02040503050406030204" pitchFamily="18" charset="0"/>
                <a:ea typeface="Cambria" panose="02040503050406030204" pitchFamily="18" charset="0"/>
                <a:cs typeface="Cambria"/>
                <a:sym typeface="Cambria"/>
              </a:rPr>
              <a:t>TECHNICAL APPROACH</a:t>
            </a:r>
            <a:endParaRPr sz="19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cxnSp>
        <p:nvCxnSpPr>
          <p:cNvPr id="133" name="Google Shape;133;p17"/>
          <p:cNvCxnSpPr/>
          <p:nvPr/>
        </p:nvCxnSpPr>
        <p:spPr>
          <a:xfrm>
            <a:off x="160782" y="694690"/>
            <a:ext cx="8732291" cy="0"/>
          </a:xfrm>
          <a:prstGeom prst="straightConnector1">
            <a:avLst/>
          </a:prstGeom>
          <a:noFill/>
          <a:ln w="15875" cap="flat" cmpd="sng">
            <a:solidFill>
              <a:srgbClr val="2C3E50"/>
            </a:solidFill>
            <a:prstDash val="dash"/>
            <a:round/>
            <a:headEnd type="none" w="sm" len="sm"/>
            <a:tailEnd type="none" w="sm" len="sm"/>
          </a:ln>
        </p:spPr>
      </p:cxnSp>
      <p:sp>
        <p:nvSpPr>
          <p:cNvPr id="135" name="Google Shape;135;p17"/>
          <p:cNvSpPr txBox="1"/>
          <p:nvPr/>
        </p:nvSpPr>
        <p:spPr>
          <a:xfrm>
            <a:off x="8641080" y="4924044"/>
            <a:ext cx="294894" cy="19202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07B7C"/>
              </a:buClr>
              <a:buSzPts val="700"/>
              <a:buFont typeface="Calibri"/>
              <a:buNone/>
            </a:pPr>
            <a:r>
              <a:rPr lang="en" sz="700" b="0" i="0" u="none" strike="noStrike" cap="none">
                <a:solidFill>
                  <a:srgbClr val="707B7C"/>
                </a:solidFill>
                <a:latin typeface="Cambria" panose="02040503050406030204" pitchFamily="18" charset="0"/>
                <a:ea typeface="Cambria" panose="02040503050406030204" pitchFamily="18" charset="0"/>
                <a:cs typeface="Calibri"/>
                <a:sym typeface="Calibri"/>
              </a:rPr>
              <a:t>3</a:t>
            </a:r>
            <a:endParaRPr sz="700" b="0" i="0" u="none" strike="noStrike" cap="none">
              <a:solidFill>
                <a:schemeClr val="dk1"/>
              </a:solidFill>
              <a:latin typeface="Cambria" panose="02040503050406030204" pitchFamily="18" charset="0"/>
              <a:ea typeface="Cambria" panose="02040503050406030204" pitchFamily="18" charset="0"/>
              <a:cs typeface="Calibri"/>
              <a:sym typeface="Calibri"/>
            </a:endParaRPr>
          </a:p>
        </p:txBody>
      </p:sp>
      <p:sp>
        <p:nvSpPr>
          <p:cNvPr id="20" name="TextBox 19">
            <a:extLst>
              <a:ext uri="{FF2B5EF4-FFF2-40B4-BE49-F238E27FC236}">
                <a16:creationId xmlns:a16="http://schemas.microsoft.com/office/drawing/2014/main" id="{778FC6FD-DE28-0565-30DB-ACF65E9F229F}"/>
              </a:ext>
            </a:extLst>
          </p:cNvPr>
          <p:cNvSpPr txBox="1"/>
          <p:nvPr/>
        </p:nvSpPr>
        <p:spPr>
          <a:xfrm>
            <a:off x="2532907" y="432158"/>
            <a:ext cx="4387844" cy="246221"/>
          </a:xfrm>
          <a:prstGeom prst="rect">
            <a:avLst/>
          </a:prstGeom>
          <a:noFill/>
        </p:spPr>
        <p:txBody>
          <a:bodyPr wrap="square">
            <a:spAutoFit/>
          </a:bodyPr>
          <a:lstStyle/>
          <a:p>
            <a:r>
              <a:rPr lang="en-IN" sz="1000" b="1" dirty="0">
                <a:latin typeface="Cambria" panose="02040503050406030204" pitchFamily="18" charset="0"/>
                <a:ea typeface="Cambria" panose="02040503050406030204" pitchFamily="18" charset="0"/>
              </a:rPr>
              <a:t>“AERIS detects the direction of risk, not just the current sensor value.”</a:t>
            </a:r>
          </a:p>
        </p:txBody>
      </p:sp>
      <p:sp>
        <p:nvSpPr>
          <p:cNvPr id="24" name="TextBox 23">
            <a:extLst>
              <a:ext uri="{FF2B5EF4-FFF2-40B4-BE49-F238E27FC236}">
                <a16:creationId xmlns:a16="http://schemas.microsoft.com/office/drawing/2014/main" id="{F9913852-906E-4DA8-16CE-3D82C33FAC07}"/>
              </a:ext>
            </a:extLst>
          </p:cNvPr>
          <p:cNvSpPr txBox="1"/>
          <p:nvPr/>
        </p:nvSpPr>
        <p:spPr>
          <a:xfrm>
            <a:off x="7456250" y="2193867"/>
            <a:ext cx="1677976" cy="584775"/>
          </a:xfrm>
          <a:prstGeom prst="rect">
            <a:avLst/>
          </a:prstGeom>
          <a:noFill/>
        </p:spPr>
        <p:txBody>
          <a:bodyPr wrap="square">
            <a:spAutoFit/>
          </a:bodyPr>
          <a:lstStyle/>
          <a:p>
            <a:pPr algn="ctr">
              <a:defRPr sz="800" b="1">
                <a:solidFill>
                  <a:srgbClr val="1E293B"/>
                </a:solidFill>
              </a:defRPr>
            </a:pPr>
            <a:r>
              <a:t>PROPOSED HARDWARE ARCHITECTURE:</a:t>
            </a:r>
            <a:br/>
            <a:r>
              <a:t>CUSTOM PCB INTEGRATION</a:t>
            </a:r>
          </a:p>
        </p:txBody>
      </p:sp>
      <p:pic>
        <p:nvPicPr>
          <p:cNvPr id="12" name="Picture 11">
            <a:extLst>
              <a:ext uri="{FF2B5EF4-FFF2-40B4-BE49-F238E27FC236}">
                <a16:creationId xmlns:a16="http://schemas.microsoft.com/office/drawing/2014/main" id="{8F4510CD-97C2-7CDF-8E19-17D39468B319}"/>
              </a:ext>
            </a:extLst>
          </p:cNvPr>
          <p:cNvPicPr>
            <a:picLocks noChangeAspect="1"/>
          </p:cNvPicPr>
          <p:nvPr/>
        </p:nvPicPr>
        <p:blipFill>
          <a:blip r:embed="rId3"/>
          <a:stretch>
            <a:fillRect/>
          </a:stretch>
        </p:blipFill>
        <p:spPr>
          <a:xfrm>
            <a:off x="7614807" y="763270"/>
            <a:ext cx="1289163" cy="1382592"/>
          </a:xfrm>
          <a:prstGeom prst="rect">
            <a:avLst/>
          </a:prstGeom>
        </p:spPr>
      </p:pic>
      <p:sp>
        <p:nvSpPr>
          <p:cNvPr id="27" name="TextBox 26">
            <a:extLst>
              <a:ext uri="{FF2B5EF4-FFF2-40B4-BE49-F238E27FC236}">
                <a16:creationId xmlns:a16="http://schemas.microsoft.com/office/drawing/2014/main" id="{2A2CDDBB-8CBB-463B-802E-8DC17EA6E829}"/>
              </a:ext>
            </a:extLst>
          </p:cNvPr>
          <p:cNvSpPr txBox="1"/>
          <p:nvPr/>
        </p:nvSpPr>
        <p:spPr>
          <a:xfrm>
            <a:off x="7349836" y="4585490"/>
            <a:ext cx="1810233" cy="338554"/>
          </a:xfrm>
          <a:prstGeom prst="rect">
            <a:avLst/>
          </a:prstGeom>
          <a:noFill/>
        </p:spPr>
        <p:txBody>
          <a:bodyPr wrap="square">
            <a:spAutoFit/>
          </a:bodyPr>
          <a:lstStyle/>
          <a:p>
            <a:pPr algn="ctr">
              <a:defRPr sz="800" b="1">
                <a:solidFill>
                  <a:srgbClr val="1E293B"/>
                </a:solidFill>
              </a:defRPr>
            </a:pPr>
            <a:r>
              <a:t>PROPOSED 3D CAD ENCLOSURE DESIGN</a:t>
            </a:r>
          </a:p>
        </p:txBody>
      </p:sp>
      <p:pic>
        <p:nvPicPr>
          <p:cNvPr id="18" name="Picture 17">
            <a:extLst>
              <a:ext uri="{FF2B5EF4-FFF2-40B4-BE49-F238E27FC236}">
                <a16:creationId xmlns:a16="http://schemas.microsoft.com/office/drawing/2014/main" id="{7CD95754-845F-29FD-48F9-BF8C303D7231}"/>
              </a:ext>
            </a:extLst>
          </p:cNvPr>
          <p:cNvPicPr>
            <a:picLocks noChangeAspect="1"/>
          </p:cNvPicPr>
          <p:nvPr/>
        </p:nvPicPr>
        <p:blipFill>
          <a:blip r:embed="rId4"/>
          <a:srcRect l="14553" t="13448" r="19745" b="11931"/>
          <a:stretch>
            <a:fillRect/>
          </a:stretch>
        </p:blipFill>
        <p:spPr>
          <a:xfrm>
            <a:off x="7532217" y="2854758"/>
            <a:ext cx="1524486" cy="1584566"/>
          </a:xfrm>
          <a:prstGeom prst="rect">
            <a:avLst/>
          </a:prstGeom>
        </p:spPr>
      </p:pic>
      <p:pic>
        <p:nvPicPr>
          <p:cNvPr id="5" name="Picture 4">
            <a:extLst>
              <a:ext uri="{FF2B5EF4-FFF2-40B4-BE49-F238E27FC236}">
                <a16:creationId xmlns:a16="http://schemas.microsoft.com/office/drawing/2014/main" id="{6C27C441-6EF6-C68A-A359-D8B35767C821}"/>
              </a:ext>
            </a:extLst>
          </p:cNvPr>
          <p:cNvPicPr>
            <a:picLocks noChangeAspect="1"/>
          </p:cNvPicPr>
          <p:nvPr/>
        </p:nvPicPr>
        <p:blipFill>
          <a:blip r:embed="rId5"/>
          <a:srcRect t="23800" b="13165"/>
          <a:stretch>
            <a:fillRect/>
          </a:stretch>
        </p:blipFill>
        <p:spPr>
          <a:xfrm>
            <a:off x="203751" y="3647041"/>
            <a:ext cx="7146085" cy="1164536"/>
          </a:xfrm>
          <a:prstGeom prst="rect">
            <a:avLst/>
          </a:prstGeom>
        </p:spPr>
      </p:pic>
      <p:pic>
        <p:nvPicPr>
          <p:cNvPr id="10" name="Picture 9">
            <a:extLst>
              <a:ext uri="{FF2B5EF4-FFF2-40B4-BE49-F238E27FC236}">
                <a16:creationId xmlns:a16="http://schemas.microsoft.com/office/drawing/2014/main" id="{B129FA59-5F8A-9E5E-EA72-6490C6161282}"/>
              </a:ext>
            </a:extLst>
          </p:cNvPr>
          <p:cNvPicPr>
            <a:picLocks noChangeAspect="1"/>
          </p:cNvPicPr>
          <p:nvPr/>
        </p:nvPicPr>
        <p:blipFill>
          <a:blip r:embed="rId6"/>
          <a:stretch>
            <a:fillRect/>
          </a:stretch>
        </p:blipFill>
        <p:spPr>
          <a:xfrm>
            <a:off x="132458" y="694690"/>
            <a:ext cx="7399759" cy="2904345"/>
          </a:xfrm>
          <a:prstGeom prst="rect">
            <a:avLst/>
          </a:prstGeom>
        </p:spPr>
      </p:pic>
      <p:pic>
        <p:nvPicPr>
          <p:cNvPr id="6" name="Picture 5">
            <a:extLst>
              <a:ext uri="{FF2B5EF4-FFF2-40B4-BE49-F238E27FC236}">
                <a16:creationId xmlns:a16="http://schemas.microsoft.com/office/drawing/2014/main" id="{65242587-0C58-E2DD-565A-F7372512D9CB}"/>
              </a:ext>
            </a:extLst>
          </p:cNvPr>
          <p:cNvPicPr>
            <a:picLocks noChangeAspect="1"/>
          </p:cNvPicPr>
          <p:nvPr/>
        </p:nvPicPr>
        <p:blipFill>
          <a:blip r:embed="rId7"/>
          <a:stretch>
            <a:fillRect/>
          </a:stretch>
        </p:blipFill>
        <p:spPr>
          <a:xfrm>
            <a:off x="204766" y="63717"/>
            <a:ext cx="728891" cy="616513"/>
          </a:xfrm>
          <a:prstGeom prst="rect">
            <a:avLst/>
          </a:prstGeom>
        </p:spPr>
      </p:pic>
      <p:sp>
        <p:nvSpPr>
          <p:cNvPr id="136" name="Rounded Rectangle 135"/>
          <p:cNvSpPr/>
          <p:nvPr/>
        </p:nvSpPr>
        <p:spPr>
          <a:xfrm>
            <a:off x="132458" y="3647041"/>
            <a:ext cx="7223760" cy="1261872"/>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294467" y="3682152"/>
            <a:ext cx="7086600" cy="219456"/>
          </a:xfrm>
          <a:prstGeom prst="rect">
            <a:avLst/>
          </a:prstGeom>
          <a:noFill/>
        </p:spPr>
        <p:txBody>
          <a:bodyPr wrap="square" lIns="0" tIns="0" rIns="0" bIns="0">
            <a:spAutoFit/>
          </a:bodyPr>
          <a:lstStyle/>
          <a:p>
            <a:pPr algn="l">
              <a:defRPr sz="850" b="1">
                <a:solidFill>
                  <a:srgbClr val="0F172A"/>
                </a:solidFill>
              </a:defRPr>
            </a:pPr>
            <a:r>
              <a:rPr dirty="0"/>
              <a:t>EDITABLE SYSTEM ARCHITECTURE &amp; OFFLINE COMMUNICATION FLOW</a:t>
            </a:r>
          </a:p>
        </p:txBody>
      </p:sp>
      <p:grpSp>
        <p:nvGrpSpPr>
          <p:cNvPr id="2" name="Group 1">
            <a:extLst>
              <a:ext uri="{FF2B5EF4-FFF2-40B4-BE49-F238E27FC236}">
                <a16:creationId xmlns:a16="http://schemas.microsoft.com/office/drawing/2014/main" id="{6310CF8D-BFDB-0408-A26A-ADFFCBFEBA82}"/>
              </a:ext>
            </a:extLst>
          </p:cNvPr>
          <p:cNvGrpSpPr/>
          <p:nvPr/>
        </p:nvGrpSpPr>
        <p:grpSpPr>
          <a:xfrm>
            <a:off x="228600" y="3840480"/>
            <a:ext cx="6949440" cy="932688"/>
            <a:chOff x="228600" y="3840480"/>
            <a:chExt cx="6949440" cy="932688"/>
          </a:xfrm>
        </p:grpSpPr>
        <p:sp>
          <p:nvSpPr>
            <p:cNvPr id="138" name="Rounded Rectangle 137"/>
            <p:cNvSpPr/>
            <p:nvPr/>
          </p:nvSpPr>
          <p:spPr>
            <a:xfrm>
              <a:off x="228600" y="3840480"/>
              <a:ext cx="1005840" cy="457200"/>
            </a:xfrm>
            <a:prstGeom prst="roundRect">
              <a:avLst/>
            </a:prstGeom>
            <a:solidFill>
              <a:srgbClr val="E0F2FE"/>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defRPr sz="750" b="1">
                  <a:solidFill>
                    <a:srgbClr val="0369A1"/>
                  </a:solidFill>
                </a:defRPr>
              </a:pPr>
              <a:r>
                <a:rPr dirty="0"/>
                <a:t>1. Sensors</a:t>
              </a:r>
            </a:p>
            <a:p>
              <a:pPr algn="ctr">
                <a:defRPr sz="600">
                  <a:solidFill>
                    <a:srgbClr val="475569"/>
                  </a:solidFill>
                </a:defRPr>
              </a:pPr>
              <a:r>
                <a:rPr dirty="0"/>
                <a:t>Data Acquisition</a:t>
              </a:r>
              <a:br>
                <a:rPr dirty="0"/>
              </a:br>
              <a:r>
                <a:rPr dirty="0"/>
                <a:t>(PPG, Temp, IMU, Env)</a:t>
              </a:r>
            </a:p>
          </p:txBody>
        </p:sp>
        <p:sp>
          <p:nvSpPr>
            <p:cNvPr id="139" name="Right Arrow 138"/>
            <p:cNvSpPr/>
            <p:nvPr/>
          </p:nvSpPr>
          <p:spPr>
            <a:xfrm>
              <a:off x="1252728" y="3986784"/>
              <a:ext cx="128016" cy="146304"/>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ounded Rectangle 139"/>
            <p:cNvSpPr/>
            <p:nvPr/>
          </p:nvSpPr>
          <p:spPr>
            <a:xfrm>
              <a:off x="1399032" y="3840480"/>
              <a:ext cx="1005840" cy="457200"/>
            </a:xfrm>
            <a:prstGeom prst="roundRect">
              <a:avLst/>
            </a:prstGeom>
            <a:solidFill>
              <a:srgbClr val="F1F5F9"/>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defRPr sz="750" b="1">
                  <a:solidFill>
                    <a:srgbClr val="334155"/>
                  </a:solidFill>
                </a:defRPr>
              </a:pPr>
              <a:r>
                <a:t>2. ESP32 Core</a:t>
              </a:r>
            </a:p>
            <a:p>
              <a:pPr algn="ctr">
                <a:defRPr sz="600">
                  <a:solidFill>
                    <a:srgbClr val="475569"/>
                  </a:solidFill>
                </a:defRPr>
              </a:pPr>
              <a:r>
                <a:t>Local Processing</a:t>
              </a:r>
              <a:br/>
              <a:r>
                <a:t>&amp; Noise Filtering</a:t>
              </a:r>
            </a:p>
          </p:txBody>
        </p:sp>
        <p:sp>
          <p:nvSpPr>
            <p:cNvPr id="141" name="Right Arrow 140"/>
            <p:cNvSpPr/>
            <p:nvPr/>
          </p:nvSpPr>
          <p:spPr>
            <a:xfrm>
              <a:off x="2423160" y="3986784"/>
              <a:ext cx="128016" cy="146304"/>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ounded Rectangle 141"/>
            <p:cNvSpPr/>
            <p:nvPr/>
          </p:nvSpPr>
          <p:spPr>
            <a:xfrm>
              <a:off x="2569464" y="3840480"/>
              <a:ext cx="1005840" cy="457200"/>
            </a:xfrm>
            <a:prstGeom prst="roundRect">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defRPr sz="750" b="1">
                  <a:solidFill>
                    <a:srgbClr val="B45309"/>
                  </a:solidFill>
                </a:defRPr>
              </a:pPr>
              <a:r>
                <a:t>3. Edge AI Engine</a:t>
              </a:r>
            </a:p>
            <a:p>
              <a:pPr algn="ctr">
                <a:defRPr sz="600">
                  <a:solidFill>
                    <a:srgbClr val="475569"/>
                  </a:solidFill>
                </a:defRPr>
              </a:pPr>
              <a:r>
                <a:t>TinyML Anomaly &amp;</a:t>
              </a:r>
              <a:br/>
              <a:r>
                <a:t>Feature Extraction</a:t>
              </a:r>
            </a:p>
          </p:txBody>
        </p:sp>
        <p:sp>
          <p:nvSpPr>
            <p:cNvPr id="143" name="Right Arrow 142"/>
            <p:cNvSpPr/>
            <p:nvPr/>
          </p:nvSpPr>
          <p:spPr>
            <a:xfrm>
              <a:off x="3593592" y="3986784"/>
              <a:ext cx="128016" cy="146304"/>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ounded Rectangle 143"/>
            <p:cNvSpPr/>
            <p:nvPr/>
          </p:nvSpPr>
          <p:spPr>
            <a:xfrm>
              <a:off x="3739896" y="3840480"/>
              <a:ext cx="1005840" cy="457200"/>
            </a:xfrm>
            <a:prstGeom prst="roundRect">
              <a:avLst/>
            </a:prstGeom>
            <a:solidFill>
              <a:srgbClr val="FEE2E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defRPr sz="750" b="1">
                  <a:solidFill>
                    <a:srgbClr val="B91C1C"/>
                  </a:solidFill>
                </a:defRPr>
              </a:pPr>
              <a:r>
                <a:t>4. Risk Index</a:t>
              </a:r>
            </a:p>
            <a:p>
              <a:pPr algn="ctr">
                <a:defRPr sz="600">
                  <a:solidFill>
                    <a:srgbClr val="475569"/>
                  </a:solidFill>
                </a:defRPr>
              </a:pPr>
              <a:r>
                <a:t>0–100 Multi-Modal</a:t>
              </a:r>
              <a:br/>
              <a:r>
                <a:t>Unified Scoring</a:t>
              </a:r>
            </a:p>
          </p:txBody>
        </p:sp>
        <p:sp>
          <p:nvSpPr>
            <p:cNvPr id="145" name="Right Arrow 144"/>
            <p:cNvSpPr/>
            <p:nvPr/>
          </p:nvSpPr>
          <p:spPr>
            <a:xfrm>
              <a:off x="4764024" y="3986784"/>
              <a:ext cx="128016" cy="146304"/>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ounded Rectangle 145"/>
            <p:cNvSpPr/>
            <p:nvPr/>
          </p:nvSpPr>
          <p:spPr>
            <a:xfrm>
              <a:off x="4910328" y="3840480"/>
              <a:ext cx="1005840" cy="457200"/>
            </a:xfrm>
            <a:prstGeom prst="roundRect">
              <a:avLst/>
            </a:prstGeom>
            <a:solidFill>
              <a:srgbClr val="FFEDD5"/>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defRPr sz="750" b="1">
                  <a:solidFill>
                    <a:srgbClr val="C2410C"/>
                  </a:solidFill>
                </a:defRPr>
              </a:pPr>
              <a:r>
                <a:t>5. Alert System</a:t>
              </a:r>
            </a:p>
            <a:p>
              <a:pPr algn="ctr">
                <a:defRPr sz="600">
                  <a:solidFill>
                    <a:srgbClr val="475569"/>
                  </a:solidFill>
                </a:defRPr>
              </a:pPr>
              <a:r>
                <a:t>Threshold Decision</a:t>
              </a:r>
              <a:br/>
              <a:r>
                <a:t>&amp; 8s Escalation</a:t>
              </a:r>
            </a:p>
          </p:txBody>
        </p:sp>
        <p:sp>
          <p:nvSpPr>
            <p:cNvPr id="147" name="Right Arrow 146"/>
            <p:cNvSpPr/>
            <p:nvPr/>
          </p:nvSpPr>
          <p:spPr>
            <a:xfrm>
              <a:off x="5934456" y="3986784"/>
              <a:ext cx="128016" cy="146304"/>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ounded Rectangle 147"/>
            <p:cNvSpPr/>
            <p:nvPr/>
          </p:nvSpPr>
          <p:spPr>
            <a:xfrm>
              <a:off x="6080760" y="3840480"/>
              <a:ext cx="1005840" cy="457200"/>
            </a:xfrm>
            <a:prstGeom prst="roundRect">
              <a:avLst/>
            </a:prstGeom>
            <a:solidFill>
              <a:srgbClr val="DCFCE7"/>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defRPr sz="750" b="1">
                  <a:solidFill>
                    <a:srgbClr val="15803D"/>
                  </a:solidFill>
                </a:defRPr>
              </a:pPr>
              <a:r>
                <a:t>6. User / Contact</a:t>
              </a:r>
            </a:p>
            <a:p>
              <a:pPr algn="ctr">
                <a:defRPr sz="600">
                  <a:solidFill>
                    <a:srgbClr val="475569"/>
                  </a:solidFill>
                </a:defRPr>
              </a:pPr>
              <a:r>
                <a:t>Audible Siren &amp; Care-</a:t>
              </a:r>
              <a:br/>
              <a:r>
                <a:t>giver Notification</a:t>
              </a:r>
            </a:p>
          </p:txBody>
        </p:sp>
        <p:sp>
          <p:nvSpPr>
            <p:cNvPr id="149" name="TextBox 148"/>
            <p:cNvSpPr txBox="1"/>
            <p:nvPr/>
          </p:nvSpPr>
          <p:spPr>
            <a:xfrm>
              <a:off x="228600" y="4407408"/>
              <a:ext cx="1554480" cy="365760"/>
            </a:xfrm>
            <a:prstGeom prst="rect">
              <a:avLst/>
            </a:prstGeom>
            <a:noFill/>
          </p:spPr>
          <p:txBody>
            <a:bodyPr wrap="square" lIns="0" tIns="0" rIns="0" bIns="0">
              <a:spAutoFit/>
            </a:bodyPr>
            <a:lstStyle/>
            <a:p>
              <a:pPr>
                <a:defRPr sz="650" b="1">
                  <a:solidFill>
                    <a:srgbClr val="DC2626"/>
                  </a:solidFill>
                </a:defRPr>
              </a:pPr>
              <a:r>
                <a:t>OFFLINE PATHWAY:</a:t>
              </a:r>
              <a:br/>
              <a:r>
                <a:t>(No Internet / Disasters)</a:t>
              </a:r>
            </a:p>
          </p:txBody>
        </p:sp>
        <p:sp>
          <p:nvSpPr>
            <p:cNvPr id="150" name="Down Arrow 149"/>
            <p:cNvSpPr/>
            <p:nvPr/>
          </p:nvSpPr>
          <p:spPr>
            <a:xfrm>
              <a:off x="1764792" y="4306824"/>
              <a:ext cx="146304" cy="64008"/>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150"/>
            <p:cNvSpPr/>
            <p:nvPr/>
          </p:nvSpPr>
          <p:spPr>
            <a:xfrm>
              <a:off x="1828800" y="4370832"/>
              <a:ext cx="2103120" cy="402336"/>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defRPr sz="750" b="1">
                  <a:solidFill>
                    <a:srgbClr val="B91C1C"/>
                  </a:solidFill>
                </a:defRPr>
              </a:pPr>
              <a:r>
                <a:rPr dirty="0"/>
                <a:t>LoRa Transceiver Module (433/868 MHz)</a:t>
              </a:r>
            </a:p>
            <a:p>
              <a:pPr algn="ctr">
                <a:defRPr sz="600">
                  <a:solidFill>
                    <a:srgbClr val="64748B"/>
                  </a:solidFill>
                </a:defRPr>
              </a:pPr>
              <a:r>
                <a:rPr dirty="0"/>
                <a:t>Long-Range Offline Chirp Spread Spectrum Protocol</a:t>
              </a:r>
            </a:p>
          </p:txBody>
        </p:sp>
        <p:sp>
          <p:nvSpPr>
            <p:cNvPr id="152" name="Right Arrow 151"/>
            <p:cNvSpPr/>
            <p:nvPr/>
          </p:nvSpPr>
          <p:spPr>
            <a:xfrm>
              <a:off x="3977640" y="4480560"/>
              <a:ext cx="228600" cy="164592"/>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ounded Rectangle 152"/>
            <p:cNvSpPr/>
            <p:nvPr/>
          </p:nvSpPr>
          <p:spPr>
            <a:xfrm>
              <a:off x="4251960" y="4370832"/>
              <a:ext cx="2926080" cy="402336"/>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defRPr sz="750" b="1">
                  <a:solidFill>
                    <a:srgbClr val="B91C1C"/>
                  </a:solidFill>
                </a:defRPr>
              </a:pPr>
              <a:r>
                <a:t>Emergency / Remote Receiver (Gateway / Siren)</a:t>
              </a:r>
            </a:p>
            <a:p>
              <a:pPr algn="ctr">
                <a:defRPr sz="600">
                  <a:solidFill>
                    <a:srgbClr val="64748B"/>
                  </a:solidFill>
                </a:defRPr>
              </a:pPr>
              <a:r>
                <a:t>Direct Offline Siren, Local Piezo Buzzer &amp; First-Responder Alert</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9"/>
        <p:cNvGrpSpPr/>
        <p:nvPr/>
      </p:nvGrpSpPr>
      <p:grpSpPr>
        <a:xfrm>
          <a:off x="0" y="0"/>
          <a:ext cx="0" cy="0"/>
          <a:chOff x="0" y="0"/>
          <a:chExt cx="0" cy="0"/>
        </a:xfrm>
      </p:grpSpPr>
      <p:sp>
        <p:nvSpPr>
          <p:cNvPr id="193" name="Google Shape;193;p18"/>
          <p:cNvSpPr txBox="1"/>
          <p:nvPr/>
        </p:nvSpPr>
        <p:spPr>
          <a:xfrm>
            <a:off x="2872146" y="118814"/>
            <a:ext cx="3207405" cy="28390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900"/>
              <a:buFont typeface="Cambria"/>
              <a:buNone/>
            </a:pPr>
            <a:r>
              <a:rPr lang="en" sz="1900" b="1" i="0" u="none" strike="noStrike" cap="none" dirty="0">
                <a:solidFill>
                  <a:srgbClr val="154360"/>
                </a:solidFill>
                <a:latin typeface="Cambria" panose="02040503050406030204" pitchFamily="18" charset="0"/>
                <a:ea typeface="Cambria" panose="02040503050406030204" pitchFamily="18" charset="0"/>
                <a:cs typeface="Cambria"/>
                <a:sym typeface="Cambria"/>
              </a:rPr>
              <a:t>FEASIBILITY AND VIABILITY</a:t>
            </a:r>
            <a:endParaRPr sz="19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cxnSp>
        <p:nvCxnSpPr>
          <p:cNvPr id="195" name="Google Shape;195;p18"/>
          <p:cNvCxnSpPr>
            <a:cxnSpLocks/>
          </p:cNvCxnSpPr>
          <p:nvPr/>
        </p:nvCxnSpPr>
        <p:spPr>
          <a:xfrm>
            <a:off x="205740" y="720090"/>
            <a:ext cx="8732291" cy="0"/>
          </a:xfrm>
          <a:prstGeom prst="straightConnector1">
            <a:avLst/>
          </a:prstGeom>
          <a:noFill/>
          <a:ln w="15875" cap="flat" cmpd="sng">
            <a:solidFill>
              <a:srgbClr val="2C3E50"/>
            </a:solidFill>
            <a:prstDash val="dash"/>
            <a:round/>
            <a:headEnd type="none" w="sm" len="sm"/>
            <a:tailEnd type="none" w="sm" len="sm"/>
          </a:ln>
        </p:spPr>
      </p:cxnSp>
      <p:sp>
        <p:nvSpPr>
          <p:cNvPr id="197" name="Google Shape;197;p18"/>
          <p:cNvSpPr txBox="1"/>
          <p:nvPr/>
        </p:nvSpPr>
        <p:spPr>
          <a:xfrm>
            <a:off x="8641080" y="4924044"/>
            <a:ext cx="294894" cy="19202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07B7C"/>
              </a:buClr>
              <a:buSzPts val="700"/>
              <a:buFont typeface="Calibri"/>
              <a:buNone/>
            </a:pPr>
            <a:r>
              <a:rPr lang="en" sz="700" b="0" i="0" u="none" strike="noStrike" cap="none">
                <a:solidFill>
                  <a:srgbClr val="707B7C"/>
                </a:solidFill>
                <a:latin typeface="Cambria" panose="02040503050406030204" pitchFamily="18" charset="0"/>
                <a:ea typeface="Cambria" panose="02040503050406030204" pitchFamily="18" charset="0"/>
                <a:cs typeface="Calibri"/>
                <a:sym typeface="Calibri"/>
              </a:rPr>
              <a:t>4</a:t>
            </a:r>
            <a:endParaRPr sz="700" b="0" i="0" u="none" strike="noStrike" cap="none">
              <a:solidFill>
                <a:schemeClr val="dk1"/>
              </a:solidFill>
              <a:latin typeface="Cambria" panose="02040503050406030204" pitchFamily="18" charset="0"/>
              <a:ea typeface="Cambria" panose="02040503050406030204" pitchFamily="18" charset="0"/>
              <a:cs typeface="Calibri"/>
              <a:sym typeface="Calibri"/>
            </a:endParaRPr>
          </a:p>
        </p:txBody>
      </p:sp>
      <p:sp>
        <p:nvSpPr>
          <p:cNvPr id="26" name="TextBox 25">
            <a:extLst>
              <a:ext uri="{FF2B5EF4-FFF2-40B4-BE49-F238E27FC236}">
                <a16:creationId xmlns:a16="http://schemas.microsoft.com/office/drawing/2014/main" id="{60E483BA-722E-094B-A2BB-06FF39EB0A7D}"/>
              </a:ext>
            </a:extLst>
          </p:cNvPr>
          <p:cNvSpPr txBox="1"/>
          <p:nvPr/>
        </p:nvSpPr>
        <p:spPr>
          <a:xfrm>
            <a:off x="3152729" y="396756"/>
            <a:ext cx="2713039" cy="261610"/>
          </a:xfrm>
          <a:prstGeom prst="rect">
            <a:avLst/>
          </a:prstGeom>
          <a:noFill/>
        </p:spPr>
        <p:txBody>
          <a:bodyPr wrap="square">
            <a:spAutoFit/>
          </a:bodyPr>
          <a:lstStyle/>
          <a:p>
            <a:r>
              <a:rPr lang="en-IN" sz="1100" b="1" dirty="0">
                <a:solidFill>
                  <a:schemeClr val="accent6">
                    <a:lumMod val="50000"/>
                  </a:schemeClr>
                </a:solidFill>
                <a:latin typeface="Cambria" panose="02040503050406030204" pitchFamily="18" charset="0"/>
                <a:ea typeface="Cambria" panose="02040503050406030204" pitchFamily="18" charset="0"/>
              </a:rPr>
              <a:t>Risk Index Becomes More Intelligent</a:t>
            </a:r>
          </a:p>
        </p:txBody>
      </p:sp>
      <p:sp>
        <p:nvSpPr>
          <p:cNvPr id="8" name="TextBox 7">
            <a:extLst>
              <a:ext uri="{FF2B5EF4-FFF2-40B4-BE49-F238E27FC236}">
                <a16:creationId xmlns:a16="http://schemas.microsoft.com/office/drawing/2014/main" id="{A25B902C-E737-73F2-E2CD-87088C22C517}"/>
              </a:ext>
            </a:extLst>
          </p:cNvPr>
          <p:cNvSpPr txBox="1"/>
          <p:nvPr/>
        </p:nvSpPr>
        <p:spPr>
          <a:xfrm>
            <a:off x="3024518" y="912620"/>
            <a:ext cx="2969464" cy="707886"/>
          </a:xfrm>
          <a:prstGeom prst="rect">
            <a:avLst/>
          </a:prstGeom>
          <a:noFill/>
        </p:spPr>
        <p:txBody>
          <a:bodyPr wrap="square" rtlCol="0">
            <a:spAutoFit/>
          </a:bodyPr>
          <a:lstStyle/>
          <a:p>
            <a:pPr algn="just"/>
            <a:r>
              <a:rPr lang="en-IN" sz="1000" b="1" dirty="0">
                <a:latin typeface="Cambria" panose="02040503050406030204" pitchFamily="18" charset="0"/>
                <a:ea typeface="Cambria" panose="02040503050406030204" pitchFamily="18" charset="0"/>
              </a:rPr>
              <a:t>AERIS: Intelligence in Every Layer</a:t>
            </a:r>
          </a:p>
          <a:p>
            <a:pPr algn="just"/>
            <a:r>
              <a:rPr lang="en-IN" sz="1000" dirty="0">
                <a:latin typeface="Cambria" panose="02040503050406030204" pitchFamily="18" charset="0"/>
                <a:ea typeface="Cambria" panose="02040503050406030204" pitchFamily="18" charset="0"/>
              </a:rPr>
              <a:t>• Compact • Intelligent </a:t>
            </a:r>
          </a:p>
          <a:p>
            <a:pPr algn="just"/>
            <a:r>
              <a:rPr lang="en-IN" sz="1000" dirty="0">
                <a:latin typeface="Cambria" panose="02040503050406030204" pitchFamily="18" charset="0"/>
                <a:ea typeface="Cambria" panose="02040503050406030204" pitchFamily="18" charset="0"/>
              </a:rPr>
              <a:t>• Wearable • Deployment-Ready</a:t>
            </a:r>
          </a:p>
          <a:p>
            <a:endParaRPr lang="en-IN" sz="1000" b="1"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3211A636-4FD9-D27C-8277-24E535177D0F}"/>
              </a:ext>
            </a:extLst>
          </p:cNvPr>
          <p:cNvGraphicFramePr>
            <a:graphicFrameLocks noGrp="1"/>
          </p:cNvGraphicFramePr>
          <p:nvPr>
            <p:extLst>
              <p:ext uri="{D42A27DB-BD31-4B8C-83A1-F6EECF244321}">
                <p14:modId xmlns:p14="http://schemas.microsoft.com/office/powerpoint/2010/main" val="1108798268"/>
              </p:ext>
            </p:extLst>
          </p:nvPr>
        </p:nvGraphicFramePr>
        <p:xfrm>
          <a:off x="238126" y="1112612"/>
          <a:ext cx="2495550" cy="3291436"/>
        </p:xfrm>
        <a:graphic>
          <a:graphicData uri="http://schemas.openxmlformats.org/drawingml/2006/table">
            <a:tbl>
              <a:tblPr firstRow="1" bandRow="1">
                <a:tableStyleId>{26267117-B0A3-4B98-B540-8E997AC7D2F3}</a:tableStyleId>
              </a:tblPr>
              <a:tblGrid>
                <a:gridCol w="1247775">
                  <a:extLst>
                    <a:ext uri="{9D8B030D-6E8A-4147-A177-3AD203B41FA5}">
                      <a16:colId xmlns:a16="http://schemas.microsoft.com/office/drawing/2014/main" val="3068796004"/>
                    </a:ext>
                  </a:extLst>
                </a:gridCol>
                <a:gridCol w="1247775">
                  <a:extLst>
                    <a:ext uri="{9D8B030D-6E8A-4147-A177-3AD203B41FA5}">
                      <a16:colId xmlns:a16="http://schemas.microsoft.com/office/drawing/2014/main" val="151194679"/>
                    </a:ext>
                  </a:extLst>
                </a:gridCol>
              </a:tblGrid>
              <a:tr h="290346">
                <a:tc>
                  <a:txBody>
                    <a:bodyPr/>
                    <a:lstStyle/>
                    <a:p>
                      <a:pPr>
                        <a:buNone/>
                        <a:defRPr sz="750" b="1"/>
                      </a:pPr>
                      <a:r>
                        <a:rPr lang="en-IN" sz="1000" b="1" dirty="0"/>
                        <a:t>AREA</a:t>
                      </a:r>
                      <a:endParaRPr lang="en-IN" sz="1000" dirty="0"/>
                    </a:p>
                  </a:txBody>
                  <a:tcPr marL="36576" marR="36576" marT="18288" marB="18288" anchor="ctr"/>
                </a:tc>
                <a:tc>
                  <a:txBody>
                    <a:bodyPr/>
                    <a:lstStyle/>
                    <a:p>
                      <a:pPr>
                        <a:buNone/>
                        <a:defRPr sz="750" b="1"/>
                      </a:pPr>
                      <a:r>
                        <a:rPr lang="en-IN" sz="1000" b="1"/>
                        <a:t>AERIS HIGHLIGHT</a:t>
                      </a:r>
                      <a:endParaRPr lang="en-IN" sz="1000"/>
                    </a:p>
                  </a:txBody>
                  <a:tcPr marL="36576" marR="36576" marT="18288" marB="18288" anchor="ctr"/>
                </a:tc>
                <a:extLst>
                  <a:ext uri="{0D108BD9-81ED-4DB2-BD59-A6C34878D82A}">
                    <a16:rowId xmlns:a16="http://schemas.microsoft.com/office/drawing/2014/main" val="1595678126"/>
                  </a:ext>
                </a:extLst>
              </a:tr>
              <a:tr h="516845">
                <a:tc>
                  <a:txBody>
                    <a:bodyPr/>
                    <a:lstStyle/>
                    <a:p>
                      <a:pPr>
                        <a:buNone/>
                        <a:defRPr sz="700"/>
                      </a:pPr>
                      <a:r>
                        <a:rPr lang="en-IN" sz="1000"/>
                        <a:t>🧩 </a:t>
                      </a:r>
                      <a:r>
                        <a:rPr lang="en-IN" sz="1000" b="1"/>
                        <a:t>Sensing</a:t>
                      </a:r>
                      <a:endParaRPr lang="en-IN" sz="1000"/>
                    </a:p>
                  </a:txBody>
                  <a:tcPr marL="36576" marR="36576" marT="18288" marB="18288" anchor="ctr"/>
                </a:tc>
                <a:tc>
                  <a:txBody>
                    <a:bodyPr/>
                    <a:lstStyle/>
                    <a:p>
                      <a:pPr>
                        <a:buNone/>
                        <a:defRPr sz="700"/>
                      </a:pPr>
                      <a:r>
                        <a:rPr lang="en-IN" sz="1000"/>
                        <a:t>Multi-modal health + motion + environment</a:t>
                      </a:r>
                    </a:p>
                  </a:txBody>
                  <a:tcPr marL="36576" marR="36576" marT="18288" marB="18288" anchor="ctr"/>
                </a:tc>
                <a:extLst>
                  <a:ext uri="{0D108BD9-81ED-4DB2-BD59-A6C34878D82A}">
                    <a16:rowId xmlns:a16="http://schemas.microsoft.com/office/drawing/2014/main" val="3668597601"/>
                  </a:ext>
                </a:extLst>
              </a:tr>
              <a:tr h="373277">
                <a:tc>
                  <a:txBody>
                    <a:bodyPr/>
                    <a:lstStyle/>
                    <a:p>
                      <a:pPr>
                        <a:buNone/>
                        <a:defRPr sz="700"/>
                      </a:pPr>
                      <a:r>
                        <a:rPr lang="en-IN" sz="1000"/>
                        <a:t>🧠 </a:t>
                      </a:r>
                      <a:r>
                        <a:rPr lang="en-IN" sz="1000" b="1"/>
                        <a:t>Edge AI</a:t>
                      </a:r>
                      <a:endParaRPr lang="en-IN" sz="1000"/>
                    </a:p>
                  </a:txBody>
                  <a:tcPr marL="36576" marR="36576" marT="18288" marB="18288" anchor="ctr"/>
                </a:tc>
                <a:tc>
                  <a:txBody>
                    <a:bodyPr/>
                    <a:lstStyle/>
                    <a:p>
                      <a:pPr>
                        <a:buNone/>
                        <a:defRPr sz="700"/>
                      </a:pPr>
                      <a:r>
                        <a:rPr lang="en-IN" sz="1000" dirty="0"/>
                        <a:t>ESP32 + personal baseline</a:t>
                      </a:r>
                    </a:p>
                  </a:txBody>
                  <a:tcPr marL="36576" marR="36576" marT="18288" marB="18288" anchor="ctr"/>
                </a:tc>
                <a:extLst>
                  <a:ext uri="{0D108BD9-81ED-4DB2-BD59-A6C34878D82A}">
                    <a16:rowId xmlns:a16="http://schemas.microsoft.com/office/drawing/2014/main" val="1818555252"/>
                  </a:ext>
                </a:extLst>
              </a:tr>
              <a:tr h="497018">
                <a:tc>
                  <a:txBody>
                    <a:bodyPr/>
                    <a:lstStyle/>
                    <a:p>
                      <a:pPr>
                        <a:buNone/>
                        <a:defRPr sz="700"/>
                      </a:pPr>
                      <a:r>
                        <a:rPr lang="en-IN" sz="1000"/>
                        <a:t>📊 </a:t>
                      </a:r>
                      <a:r>
                        <a:rPr lang="en-IN" sz="1000" b="1"/>
                        <a:t>Risk Engine</a:t>
                      </a:r>
                      <a:endParaRPr lang="en-IN" sz="1000"/>
                    </a:p>
                  </a:txBody>
                  <a:tcPr marL="36576" marR="36576" marT="18288" marB="18288" anchor="ctr"/>
                </a:tc>
                <a:tc>
                  <a:txBody>
                    <a:bodyPr/>
                    <a:lstStyle/>
                    <a:p>
                      <a:pPr>
                        <a:buNone/>
                        <a:defRPr sz="700"/>
                      </a:pPr>
                      <a:r>
                        <a:rPr lang="en-IN" sz="1000" dirty="0"/>
                        <a:t>Unified </a:t>
                      </a:r>
                      <a:r>
                        <a:rPr lang="en-IN" sz="1000" b="1" dirty="0"/>
                        <a:t>0–100 Risk Index</a:t>
                      </a:r>
                      <a:endParaRPr lang="en-IN" sz="1000" dirty="0"/>
                    </a:p>
                  </a:txBody>
                  <a:tcPr marL="36576" marR="36576" marT="18288" marB="18288" anchor="ctr"/>
                </a:tc>
                <a:extLst>
                  <a:ext uri="{0D108BD9-81ED-4DB2-BD59-A6C34878D82A}">
                    <a16:rowId xmlns:a16="http://schemas.microsoft.com/office/drawing/2014/main" val="2931709860"/>
                  </a:ext>
                </a:extLst>
              </a:tr>
              <a:tr h="404959">
                <a:tc>
                  <a:txBody>
                    <a:bodyPr/>
                    <a:lstStyle/>
                    <a:p>
                      <a:pPr>
                        <a:buNone/>
                        <a:defRPr sz="700"/>
                      </a:pPr>
                      <a:r>
                        <a:rPr lang="en-IN" sz="1000"/>
                        <a:t>🔧 </a:t>
                      </a:r>
                      <a:r>
                        <a:rPr lang="en-IN" sz="1000" b="1"/>
                        <a:t>Custom PCB</a:t>
                      </a:r>
                      <a:endParaRPr lang="en-IN" sz="1000"/>
                    </a:p>
                  </a:txBody>
                  <a:tcPr marL="36576" marR="36576" marT="18288" marB="18288" anchor="ctr"/>
                </a:tc>
                <a:tc>
                  <a:txBody>
                    <a:bodyPr/>
                    <a:lstStyle/>
                    <a:p>
                      <a:pPr>
                        <a:defRPr sz="700"/>
                      </a:pPr>
                      <a:r>
                        <a:t>Proposed modular PCB design</a:t>
                      </a:r>
                    </a:p>
                  </a:txBody>
                  <a:tcPr marL="36576" marR="36576" marT="18288" marB="18288" anchor="ctr"/>
                </a:tc>
                <a:extLst>
                  <a:ext uri="{0D108BD9-81ED-4DB2-BD59-A6C34878D82A}">
                    <a16:rowId xmlns:a16="http://schemas.microsoft.com/office/drawing/2014/main" val="1665099828"/>
                  </a:ext>
                </a:extLst>
              </a:tr>
              <a:tr h="404959">
                <a:tc>
                  <a:txBody>
                    <a:bodyPr/>
                    <a:lstStyle/>
                    <a:p>
                      <a:pPr>
                        <a:buNone/>
                        <a:defRPr sz="700"/>
                      </a:pPr>
                      <a:r>
                        <a:rPr lang="en-IN" sz="1000"/>
                        <a:t>📐 </a:t>
                      </a:r>
                      <a:r>
                        <a:rPr lang="en-IN" sz="1000" b="1"/>
                        <a:t>3D CAD</a:t>
                      </a:r>
                      <a:endParaRPr lang="en-IN" sz="1000"/>
                    </a:p>
                  </a:txBody>
                  <a:tcPr marL="36576" marR="36576" marT="18288" marB="18288" anchor="ctr"/>
                </a:tc>
                <a:tc>
                  <a:txBody>
                    <a:bodyPr/>
                    <a:lstStyle/>
                    <a:p>
                      <a:pPr>
                        <a:buNone/>
                        <a:defRPr sz="700"/>
                      </a:pPr>
                      <a:r>
                        <a:rPr lang="en-IN" sz="1000"/>
                        <a:t>Wearable enclosure </a:t>
                      </a:r>
                      <a:r>
                        <a:rPr lang="en-IN" sz="1000" b="1"/>
                        <a:t>designed</a:t>
                      </a:r>
                      <a:endParaRPr lang="en-IN" sz="1000"/>
                    </a:p>
                  </a:txBody>
                  <a:tcPr marL="36576" marR="36576" marT="18288" marB="18288" anchor="ctr"/>
                </a:tc>
                <a:extLst>
                  <a:ext uri="{0D108BD9-81ED-4DB2-BD59-A6C34878D82A}">
                    <a16:rowId xmlns:a16="http://schemas.microsoft.com/office/drawing/2014/main" val="2689111977"/>
                  </a:ext>
                </a:extLst>
              </a:tr>
              <a:tr h="402016">
                <a:tc>
                  <a:txBody>
                    <a:bodyPr/>
                    <a:lstStyle/>
                    <a:p>
                      <a:pPr>
                        <a:buNone/>
                        <a:defRPr sz="700"/>
                      </a:pPr>
                      <a:r>
                        <a:rPr lang="en-IN" sz="1000"/>
                        <a:t>📡 </a:t>
                      </a:r>
                      <a:r>
                        <a:rPr lang="en-IN" sz="1000" b="1"/>
                        <a:t>Connectivity</a:t>
                      </a:r>
                      <a:endParaRPr lang="en-IN" sz="1000"/>
                    </a:p>
                  </a:txBody>
                  <a:tcPr marL="36576" marR="36576" marT="18288" marB="18288" anchor="ctr"/>
                </a:tc>
                <a:tc>
                  <a:txBody>
                    <a:bodyPr/>
                    <a:lstStyle/>
                    <a:p>
                      <a:pPr>
                        <a:buNone/>
                        <a:defRPr sz="700"/>
                      </a:pPr>
                      <a:r>
                        <a:rPr lang="en-IN" sz="1000"/>
                        <a:t>Internet + </a:t>
                      </a:r>
                      <a:r>
                        <a:rPr lang="en-IN" sz="1000" b="1"/>
                        <a:t>LoRa</a:t>
                      </a:r>
                      <a:endParaRPr lang="en-IN" sz="1000"/>
                    </a:p>
                  </a:txBody>
                  <a:tcPr marL="36576" marR="36576" marT="18288" marB="18288" anchor="ctr"/>
                </a:tc>
                <a:extLst>
                  <a:ext uri="{0D108BD9-81ED-4DB2-BD59-A6C34878D82A}">
                    <a16:rowId xmlns:a16="http://schemas.microsoft.com/office/drawing/2014/main" val="3018577563"/>
                  </a:ext>
                </a:extLst>
              </a:tr>
              <a:tr h="402016">
                <a:tc>
                  <a:txBody>
                    <a:bodyPr/>
                    <a:lstStyle/>
                    <a:p>
                      <a:pPr>
                        <a:buNone/>
                        <a:defRPr sz="700"/>
                      </a:pPr>
                      <a:r>
                        <a:rPr lang="en-IN" sz="1000" dirty="0"/>
                        <a:t>🧪 </a:t>
                      </a:r>
                      <a:r>
                        <a:rPr lang="en-IN" sz="1000" b="1" dirty="0"/>
                        <a:t>Prototype</a:t>
                      </a:r>
                      <a:endParaRPr lang="en-IN" sz="1000" dirty="0"/>
                    </a:p>
                  </a:txBody>
                  <a:tcPr marL="36576" marR="36576" marT="18288" marB="18288" anchor="ctr"/>
                </a:tc>
                <a:tc>
                  <a:txBody>
                    <a:bodyPr/>
                    <a:lstStyle/>
                    <a:p>
                      <a:pPr>
                        <a:defRPr sz="700"/>
                      </a:pPr>
                      <a:r>
                        <a:t>Sensor acquisition validated on benchtop</a:t>
                      </a:r>
                    </a:p>
                  </a:txBody>
                  <a:tcPr marL="36576" marR="36576" marT="18288" marB="18288" anchor="ctr"/>
                </a:tc>
                <a:extLst>
                  <a:ext uri="{0D108BD9-81ED-4DB2-BD59-A6C34878D82A}">
                    <a16:rowId xmlns:a16="http://schemas.microsoft.com/office/drawing/2014/main" val="3488333695"/>
                  </a:ext>
                </a:extLst>
              </a:tr>
            </a:tbl>
          </a:graphicData>
        </a:graphic>
      </p:graphicFrame>
      <p:graphicFrame>
        <p:nvGraphicFramePr>
          <p:cNvPr id="6" name="Table 5">
            <a:extLst>
              <a:ext uri="{FF2B5EF4-FFF2-40B4-BE49-F238E27FC236}">
                <a16:creationId xmlns:a16="http://schemas.microsoft.com/office/drawing/2014/main" id="{E18B2518-7663-A6A1-D5D6-38CF53B9B95E}"/>
              </a:ext>
            </a:extLst>
          </p:cNvPr>
          <p:cNvGraphicFramePr>
            <a:graphicFrameLocks noGrp="1"/>
          </p:cNvGraphicFramePr>
          <p:nvPr>
            <p:extLst>
              <p:ext uri="{D42A27DB-BD31-4B8C-83A1-F6EECF244321}">
                <p14:modId xmlns:p14="http://schemas.microsoft.com/office/powerpoint/2010/main" val="3209013084"/>
              </p:ext>
            </p:extLst>
          </p:nvPr>
        </p:nvGraphicFramePr>
        <p:xfrm>
          <a:off x="6256020" y="1335104"/>
          <a:ext cx="2739530" cy="3355101"/>
        </p:xfrm>
        <a:graphic>
          <a:graphicData uri="http://schemas.openxmlformats.org/drawingml/2006/table">
            <a:tbl>
              <a:tblPr firstRow="1" bandRow="1">
                <a:tableStyleId>{26267117-B0A3-4B98-B540-8E997AC7D2F3}</a:tableStyleId>
              </a:tblPr>
              <a:tblGrid>
                <a:gridCol w="1369765">
                  <a:extLst>
                    <a:ext uri="{9D8B030D-6E8A-4147-A177-3AD203B41FA5}">
                      <a16:colId xmlns:a16="http://schemas.microsoft.com/office/drawing/2014/main" val="2884880944"/>
                    </a:ext>
                  </a:extLst>
                </a:gridCol>
                <a:gridCol w="1369765">
                  <a:extLst>
                    <a:ext uri="{9D8B030D-6E8A-4147-A177-3AD203B41FA5}">
                      <a16:colId xmlns:a16="http://schemas.microsoft.com/office/drawing/2014/main" val="1859824267"/>
                    </a:ext>
                  </a:extLst>
                </a:gridCol>
              </a:tblGrid>
              <a:tr h="355552">
                <a:tc>
                  <a:txBody>
                    <a:bodyPr/>
                    <a:lstStyle/>
                    <a:p>
                      <a:pPr>
                        <a:buNone/>
                        <a:defRPr sz="750" b="1"/>
                      </a:pPr>
                      <a:r>
                        <a:rPr lang="en-IN" sz="1000" b="1" dirty="0"/>
                        <a:t>AREA</a:t>
                      </a:r>
                      <a:endParaRPr lang="en-IN" sz="1000" dirty="0"/>
                    </a:p>
                  </a:txBody>
                  <a:tcPr marL="36576" marR="36576" marT="18288" marB="18288" anchor="ctr"/>
                </a:tc>
                <a:tc>
                  <a:txBody>
                    <a:bodyPr/>
                    <a:lstStyle/>
                    <a:p>
                      <a:pPr>
                        <a:buNone/>
                        <a:defRPr sz="750" b="1"/>
                      </a:pPr>
                      <a:r>
                        <a:rPr lang="en-IN" sz="1000" b="1"/>
                        <a:t>AERIS ADVANTAGE</a:t>
                      </a:r>
                      <a:endParaRPr lang="en-IN" sz="1000"/>
                    </a:p>
                  </a:txBody>
                  <a:tcPr marL="36576" marR="36576" marT="18288" marB="18288" anchor="ctr"/>
                </a:tc>
                <a:extLst>
                  <a:ext uri="{0D108BD9-81ED-4DB2-BD59-A6C34878D82A}">
                    <a16:rowId xmlns:a16="http://schemas.microsoft.com/office/drawing/2014/main" val="3984261635"/>
                  </a:ext>
                </a:extLst>
              </a:tr>
              <a:tr h="355552">
                <a:tc>
                  <a:txBody>
                    <a:bodyPr/>
                    <a:lstStyle/>
                    <a:p>
                      <a:pPr>
                        <a:buNone/>
                        <a:defRPr sz="700"/>
                      </a:pPr>
                      <a:r>
                        <a:rPr lang="en-IN" sz="1000"/>
                        <a:t>🔐 </a:t>
                      </a:r>
                      <a:r>
                        <a:rPr lang="en-IN" sz="1000" b="1"/>
                        <a:t>Privacy</a:t>
                      </a:r>
                      <a:endParaRPr lang="en-IN" sz="1000"/>
                    </a:p>
                  </a:txBody>
                  <a:tcPr marL="36576" marR="36576" marT="18288" marB="18288" anchor="ctr"/>
                </a:tc>
                <a:tc>
                  <a:txBody>
                    <a:bodyPr/>
                    <a:lstStyle/>
                    <a:p>
                      <a:pPr>
                        <a:buNone/>
                        <a:defRPr sz="700"/>
                      </a:pPr>
                      <a:r>
                        <a:rPr lang="en-IN" sz="1000"/>
                        <a:t>Edge-first processing</a:t>
                      </a:r>
                    </a:p>
                  </a:txBody>
                  <a:tcPr marL="36576" marR="36576" marT="18288" marB="18288" anchor="ctr"/>
                </a:tc>
                <a:extLst>
                  <a:ext uri="{0D108BD9-81ED-4DB2-BD59-A6C34878D82A}">
                    <a16:rowId xmlns:a16="http://schemas.microsoft.com/office/drawing/2014/main" val="3138170564"/>
                  </a:ext>
                </a:extLst>
              </a:tr>
              <a:tr h="355552">
                <a:tc>
                  <a:txBody>
                    <a:bodyPr/>
                    <a:lstStyle/>
                    <a:p>
                      <a:pPr>
                        <a:buNone/>
                        <a:defRPr sz="700"/>
                      </a:pPr>
                      <a:r>
                        <a:rPr lang="en-IN" sz="1000"/>
                        <a:t>📡 </a:t>
                      </a:r>
                      <a:r>
                        <a:rPr lang="en-IN" sz="1000" b="1"/>
                        <a:t>Resilience</a:t>
                      </a:r>
                      <a:endParaRPr lang="en-IN" sz="1000"/>
                    </a:p>
                  </a:txBody>
                  <a:tcPr marL="36576" marR="36576" marT="18288" marB="18288" anchor="ctr"/>
                </a:tc>
                <a:tc>
                  <a:txBody>
                    <a:bodyPr/>
                    <a:lstStyle/>
                    <a:p>
                      <a:pPr>
                        <a:buNone/>
                        <a:defRPr sz="700"/>
                      </a:pPr>
                      <a:r>
                        <a:rPr lang="en-IN" sz="1000"/>
                        <a:t>Online + offline LoRa</a:t>
                      </a:r>
                    </a:p>
                  </a:txBody>
                  <a:tcPr marL="36576" marR="36576" marT="18288" marB="18288" anchor="ctr"/>
                </a:tc>
                <a:extLst>
                  <a:ext uri="{0D108BD9-81ED-4DB2-BD59-A6C34878D82A}">
                    <a16:rowId xmlns:a16="http://schemas.microsoft.com/office/drawing/2014/main" val="2741166455"/>
                  </a:ext>
                </a:extLst>
              </a:tr>
              <a:tr h="457689">
                <a:tc>
                  <a:txBody>
                    <a:bodyPr/>
                    <a:lstStyle/>
                    <a:p>
                      <a:pPr>
                        <a:buNone/>
                        <a:defRPr sz="700"/>
                      </a:pPr>
                      <a:r>
                        <a:rPr lang="en-IN" sz="1000"/>
                        <a:t>🚨 </a:t>
                      </a:r>
                      <a:r>
                        <a:rPr lang="en-IN" sz="1000" b="1"/>
                        <a:t>Safety</a:t>
                      </a:r>
                      <a:endParaRPr lang="en-IN" sz="1000"/>
                    </a:p>
                  </a:txBody>
                  <a:tcPr marL="36576" marR="36576" marT="18288" marB="18288" anchor="ctr"/>
                </a:tc>
                <a:tc>
                  <a:txBody>
                    <a:bodyPr/>
                    <a:lstStyle/>
                    <a:p>
                      <a:pPr>
                        <a:buNone/>
                        <a:defRPr sz="700"/>
                      </a:pPr>
                      <a:r>
                        <a:rPr lang="en-IN" sz="1000"/>
                        <a:t>Risk → Alert → Emergency</a:t>
                      </a:r>
                    </a:p>
                  </a:txBody>
                  <a:tcPr marL="36576" marR="36576" marT="18288" marB="18288" anchor="ctr"/>
                </a:tc>
                <a:extLst>
                  <a:ext uri="{0D108BD9-81ED-4DB2-BD59-A6C34878D82A}">
                    <a16:rowId xmlns:a16="http://schemas.microsoft.com/office/drawing/2014/main" val="2298856868"/>
                  </a:ext>
                </a:extLst>
              </a:tr>
              <a:tr h="457689">
                <a:tc>
                  <a:txBody>
                    <a:bodyPr/>
                    <a:lstStyle/>
                    <a:p>
                      <a:pPr>
                        <a:buNone/>
                        <a:defRPr sz="700"/>
                      </a:pPr>
                      <a:r>
                        <a:rPr lang="en-IN" sz="1000"/>
                        <a:t>🌦 </a:t>
                      </a:r>
                      <a:r>
                        <a:rPr lang="en-IN" sz="1000" b="1"/>
                        <a:t>Context</a:t>
                      </a:r>
                      <a:endParaRPr lang="en-IN" sz="1000"/>
                    </a:p>
                  </a:txBody>
                  <a:tcPr marL="36576" marR="36576" marT="18288" marB="18288" anchor="ctr"/>
                </a:tc>
                <a:tc>
                  <a:txBody>
                    <a:bodyPr/>
                    <a:lstStyle/>
                    <a:p>
                      <a:pPr>
                        <a:buNone/>
                        <a:defRPr sz="700"/>
                      </a:pPr>
                      <a:r>
                        <a:rPr lang="en-IN" sz="1000" dirty="0"/>
                        <a:t>Health + environment + weather</a:t>
                      </a:r>
                    </a:p>
                  </a:txBody>
                  <a:tcPr marL="36576" marR="36576" marT="18288" marB="18288" anchor="ctr"/>
                </a:tc>
                <a:extLst>
                  <a:ext uri="{0D108BD9-81ED-4DB2-BD59-A6C34878D82A}">
                    <a16:rowId xmlns:a16="http://schemas.microsoft.com/office/drawing/2014/main" val="3934455516"/>
                  </a:ext>
                </a:extLst>
              </a:tr>
              <a:tr h="457689">
                <a:tc>
                  <a:txBody>
                    <a:bodyPr/>
                    <a:lstStyle/>
                    <a:p>
                      <a:pPr>
                        <a:buNone/>
                        <a:defRPr sz="700"/>
                      </a:pPr>
                      <a:r>
                        <a:rPr lang="en-IN" sz="1000" dirty="0"/>
                        <a:t>🧠 </a:t>
                      </a:r>
                      <a:r>
                        <a:rPr lang="en-IN" sz="1000" b="1" dirty="0"/>
                        <a:t>Smart Stress</a:t>
                      </a:r>
                      <a:endParaRPr lang="en-IN" sz="1000" dirty="0"/>
                    </a:p>
                  </a:txBody>
                  <a:tcPr marL="36576" marR="36576" marT="18288" marB="18288" anchor="ctr"/>
                </a:tc>
                <a:tc>
                  <a:txBody>
                    <a:bodyPr/>
                    <a:lstStyle/>
                    <a:p>
                      <a:pPr>
                        <a:buNone/>
                        <a:defRPr sz="700"/>
                      </a:pPr>
                      <a:r>
                        <a:rPr lang="en-IN" sz="1000" dirty="0"/>
                        <a:t>GSR-free HRV-based estimation</a:t>
                      </a:r>
                    </a:p>
                  </a:txBody>
                  <a:tcPr marL="36576" marR="36576" marT="18288" marB="18288" anchor="ctr"/>
                </a:tc>
                <a:extLst>
                  <a:ext uri="{0D108BD9-81ED-4DB2-BD59-A6C34878D82A}">
                    <a16:rowId xmlns:a16="http://schemas.microsoft.com/office/drawing/2014/main" val="926875089"/>
                  </a:ext>
                </a:extLst>
              </a:tr>
              <a:tr h="457689">
                <a:tc>
                  <a:txBody>
                    <a:bodyPr/>
                    <a:lstStyle/>
                    <a:p>
                      <a:pPr>
                        <a:buNone/>
                        <a:defRPr sz="700"/>
                      </a:pPr>
                      <a:r>
                        <a:rPr lang="en-IN" sz="1000"/>
                        <a:t>🔄 </a:t>
                      </a:r>
                      <a:r>
                        <a:rPr lang="en-IN" sz="1000" b="1"/>
                        <a:t>Scalable</a:t>
                      </a:r>
                      <a:endParaRPr lang="en-IN" sz="1000"/>
                    </a:p>
                  </a:txBody>
                  <a:tcPr marL="36576" marR="36576" marT="18288" marB="18288" anchor="ctr"/>
                </a:tc>
                <a:tc>
                  <a:txBody>
                    <a:bodyPr/>
                    <a:lstStyle/>
                    <a:p>
                      <a:pPr>
                        <a:buNone/>
                        <a:defRPr sz="700"/>
                      </a:pPr>
                      <a:r>
                        <a:rPr lang="en-IN" sz="1000"/>
                        <a:t>Prototype → PCB → Wearable</a:t>
                      </a:r>
                    </a:p>
                  </a:txBody>
                  <a:tcPr marL="36576" marR="36576" marT="18288" marB="18288" anchor="ctr"/>
                </a:tc>
                <a:extLst>
                  <a:ext uri="{0D108BD9-81ED-4DB2-BD59-A6C34878D82A}">
                    <a16:rowId xmlns:a16="http://schemas.microsoft.com/office/drawing/2014/main" val="3641892993"/>
                  </a:ext>
                </a:extLst>
              </a:tr>
              <a:tr h="457689">
                <a:tc>
                  <a:txBody>
                    <a:bodyPr/>
                    <a:lstStyle/>
                    <a:p>
                      <a:pPr>
                        <a:buNone/>
                        <a:defRPr sz="700"/>
                      </a:pPr>
                      <a:r>
                        <a:rPr lang="en-IN" sz="1000"/>
                        <a:t>🏥 </a:t>
                      </a:r>
                      <a:r>
                        <a:rPr lang="en-IN" sz="1000" b="1"/>
                        <a:t>Non-Diagnostic</a:t>
                      </a:r>
                      <a:endParaRPr lang="en-IN" sz="1000"/>
                    </a:p>
                  </a:txBody>
                  <a:tcPr marL="36576" marR="36576" marT="18288" marB="18288" anchor="ctr"/>
                </a:tc>
                <a:tc>
                  <a:txBody>
                    <a:bodyPr/>
                    <a:lstStyle/>
                    <a:p>
                      <a:pPr>
                        <a:buNone/>
                        <a:defRPr sz="700"/>
                      </a:pPr>
                      <a:r>
                        <a:rPr lang="en-IN" sz="1000" dirty="0"/>
                        <a:t>Risk awareness, not diagnosis</a:t>
                      </a:r>
                    </a:p>
                  </a:txBody>
                  <a:tcPr marL="36576" marR="36576" marT="18288" marB="18288" anchor="ctr"/>
                </a:tc>
                <a:extLst>
                  <a:ext uri="{0D108BD9-81ED-4DB2-BD59-A6C34878D82A}">
                    <a16:rowId xmlns:a16="http://schemas.microsoft.com/office/drawing/2014/main" val="1688723104"/>
                  </a:ext>
                </a:extLst>
              </a:tr>
            </a:tbl>
          </a:graphicData>
        </a:graphic>
      </p:graphicFrame>
      <p:sp>
        <p:nvSpPr>
          <p:cNvPr id="9" name="TextBox 8">
            <a:extLst>
              <a:ext uri="{FF2B5EF4-FFF2-40B4-BE49-F238E27FC236}">
                <a16:creationId xmlns:a16="http://schemas.microsoft.com/office/drawing/2014/main" id="{5CC9AB0A-19A9-8B54-4A94-F1DBBC36E8C3}"/>
              </a:ext>
            </a:extLst>
          </p:cNvPr>
          <p:cNvSpPr txBox="1"/>
          <p:nvPr/>
        </p:nvSpPr>
        <p:spPr>
          <a:xfrm>
            <a:off x="117076" y="781815"/>
            <a:ext cx="2728310" cy="307777"/>
          </a:xfrm>
          <a:prstGeom prst="rect">
            <a:avLst/>
          </a:prstGeom>
          <a:noFill/>
        </p:spPr>
        <p:txBody>
          <a:bodyPr wrap="square" rtlCol="0">
            <a:spAutoFit/>
          </a:bodyPr>
          <a:lstStyle/>
          <a:p>
            <a:r>
              <a:rPr lang="en-IN" b="1" dirty="0">
                <a:solidFill>
                  <a:srgbClr val="002060"/>
                </a:solidFill>
                <a:latin typeface="Cambria" panose="02040503050406030204" pitchFamily="18" charset="0"/>
                <a:ea typeface="Cambria" panose="02040503050406030204" pitchFamily="18" charset="0"/>
              </a:rPr>
              <a:t> </a:t>
            </a:r>
            <a:r>
              <a:rPr lang="en-IN" b="1" dirty="0">
                <a:solidFill>
                  <a:schemeClr val="tx1"/>
                </a:solidFill>
                <a:latin typeface="Cambria" panose="02040503050406030204" pitchFamily="18" charset="0"/>
                <a:ea typeface="Cambria" panose="02040503050406030204" pitchFamily="18" charset="0"/>
              </a:rPr>
              <a:t>FEASIBILITY - Can we build it?</a:t>
            </a:r>
            <a:endParaRPr lang="en-IN" dirty="0">
              <a:solidFill>
                <a:schemeClr val="tx1"/>
              </a:solidFill>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D80C4C88-F2C5-0FA2-ED2A-BEF3419A1C02}"/>
              </a:ext>
            </a:extLst>
          </p:cNvPr>
          <p:cNvSpPr txBox="1"/>
          <p:nvPr/>
        </p:nvSpPr>
        <p:spPr>
          <a:xfrm>
            <a:off x="6173113" y="773948"/>
            <a:ext cx="4084390" cy="523220"/>
          </a:xfrm>
          <a:prstGeom prst="rect">
            <a:avLst/>
          </a:prstGeom>
          <a:noFill/>
        </p:spPr>
        <p:txBody>
          <a:bodyPr wrap="square">
            <a:spAutoFit/>
          </a:bodyPr>
          <a:lstStyle/>
          <a:p>
            <a:pPr>
              <a:buNone/>
            </a:pPr>
            <a:r>
              <a:rPr lang="en-IN" b="1" dirty="0">
                <a:latin typeface="Cambria" panose="02040503050406030204" pitchFamily="18" charset="0"/>
                <a:ea typeface="Cambria" panose="02040503050406030204" pitchFamily="18" charset="0"/>
              </a:rPr>
              <a:t>VIABILITY- Can it work in the real</a:t>
            </a:r>
          </a:p>
          <a:p>
            <a:pPr>
              <a:buNone/>
            </a:pPr>
            <a:r>
              <a:rPr lang="en-IN" b="1" dirty="0">
                <a:latin typeface="Cambria" panose="02040503050406030204" pitchFamily="18" charset="0"/>
                <a:ea typeface="Cambria" panose="02040503050406030204" pitchFamily="18" charset="0"/>
              </a:rPr>
              <a:t>world?</a:t>
            </a:r>
            <a:endParaRPr lang="en-IN" dirty="0">
              <a:latin typeface="Cambria" panose="02040503050406030204" pitchFamily="18" charset="0"/>
              <a:ea typeface="Cambria" panose="02040503050406030204" pitchFamily="18" charset="0"/>
            </a:endParaRPr>
          </a:p>
        </p:txBody>
      </p:sp>
      <p:pic>
        <p:nvPicPr>
          <p:cNvPr id="16" name="Picture 15">
            <a:extLst>
              <a:ext uri="{FF2B5EF4-FFF2-40B4-BE49-F238E27FC236}">
                <a16:creationId xmlns:a16="http://schemas.microsoft.com/office/drawing/2014/main" id="{A2820EC5-D2C9-E3DC-342E-A1D584D10DCC}"/>
              </a:ext>
            </a:extLst>
          </p:cNvPr>
          <p:cNvPicPr>
            <a:picLocks noChangeAspect="1"/>
          </p:cNvPicPr>
          <p:nvPr/>
        </p:nvPicPr>
        <p:blipFill>
          <a:blip r:embed="rId3"/>
          <a:stretch>
            <a:fillRect/>
          </a:stretch>
        </p:blipFill>
        <p:spPr>
          <a:xfrm>
            <a:off x="2845386" y="1510272"/>
            <a:ext cx="3327727" cy="2878049"/>
          </a:xfrm>
          <a:prstGeom prst="rect">
            <a:avLst/>
          </a:prstGeom>
        </p:spPr>
      </p:pic>
      <p:pic>
        <p:nvPicPr>
          <p:cNvPr id="5" name="Picture 4">
            <a:extLst>
              <a:ext uri="{FF2B5EF4-FFF2-40B4-BE49-F238E27FC236}">
                <a16:creationId xmlns:a16="http://schemas.microsoft.com/office/drawing/2014/main" id="{6631E337-69C8-5060-870C-1DC96EB0D526}"/>
              </a:ext>
            </a:extLst>
          </p:cNvPr>
          <p:cNvPicPr>
            <a:picLocks noChangeAspect="1"/>
          </p:cNvPicPr>
          <p:nvPr/>
        </p:nvPicPr>
        <p:blipFill>
          <a:blip r:embed="rId4"/>
          <a:stretch>
            <a:fillRect/>
          </a:stretch>
        </p:blipFill>
        <p:spPr>
          <a:xfrm>
            <a:off x="204766" y="63717"/>
            <a:ext cx="728891" cy="6165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8"/>
        <p:cNvGrpSpPr/>
        <p:nvPr/>
      </p:nvGrpSpPr>
      <p:grpSpPr>
        <a:xfrm>
          <a:off x="0" y="0"/>
          <a:ext cx="0" cy="0"/>
          <a:chOff x="0" y="0"/>
          <a:chExt cx="0" cy="0"/>
        </a:xfrm>
      </p:grpSpPr>
      <p:sp>
        <p:nvSpPr>
          <p:cNvPr id="222" name="Google Shape;222;p19"/>
          <p:cNvSpPr txBox="1"/>
          <p:nvPr/>
        </p:nvSpPr>
        <p:spPr>
          <a:xfrm>
            <a:off x="1857715" y="187349"/>
            <a:ext cx="5212080" cy="36060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900"/>
              <a:buFont typeface="Cambria"/>
              <a:buNone/>
            </a:pPr>
            <a:r>
              <a:rPr lang="en" sz="1900" b="1" i="0" u="none" strike="noStrike" cap="none" dirty="0">
                <a:solidFill>
                  <a:srgbClr val="154360"/>
                </a:solidFill>
                <a:latin typeface="Cambria" panose="02040503050406030204" pitchFamily="18" charset="0"/>
                <a:ea typeface="Cambria" panose="02040503050406030204" pitchFamily="18" charset="0"/>
                <a:cs typeface="Calibri" panose="020F0502020204030204" pitchFamily="34" charset="0"/>
                <a:sym typeface="Cambria"/>
              </a:rPr>
              <a:t>IMPACT AND BENEFITS</a:t>
            </a:r>
            <a:endParaRPr sz="1900" b="0" i="0" u="none" strike="noStrike" cap="none" dirty="0">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cxnSp>
        <p:nvCxnSpPr>
          <p:cNvPr id="224" name="Google Shape;224;p19"/>
          <p:cNvCxnSpPr>
            <a:cxnSpLocks/>
          </p:cNvCxnSpPr>
          <p:nvPr/>
        </p:nvCxnSpPr>
        <p:spPr>
          <a:xfrm>
            <a:off x="205740" y="720090"/>
            <a:ext cx="8732291" cy="0"/>
          </a:xfrm>
          <a:prstGeom prst="straightConnector1">
            <a:avLst/>
          </a:prstGeom>
          <a:noFill/>
          <a:ln w="15875" cap="flat" cmpd="sng">
            <a:solidFill>
              <a:srgbClr val="2C3E50"/>
            </a:solidFill>
            <a:prstDash val="dash"/>
            <a:round/>
            <a:headEnd type="none" w="sm" len="sm"/>
            <a:tailEnd type="none" w="sm" len="sm"/>
          </a:ln>
        </p:spPr>
      </p:cxnSp>
      <p:sp>
        <p:nvSpPr>
          <p:cNvPr id="226" name="Google Shape;226;p19"/>
          <p:cNvSpPr txBox="1"/>
          <p:nvPr/>
        </p:nvSpPr>
        <p:spPr>
          <a:xfrm>
            <a:off x="8641080" y="4924044"/>
            <a:ext cx="294894" cy="19202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07B7C"/>
              </a:buClr>
              <a:buSzPts val="700"/>
              <a:buFont typeface="Calibri"/>
              <a:buNone/>
            </a:pPr>
            <a:r>
              <a:rPr lang="en" sz="700" b="0" i="0" u="none" strike="noStrike" cap="none">
                <a:solidFill>
                  <a:srgbClr val="707B7C"/>
                </a:solidFill>
                <a:latin typeface="Cambria" panose="02040503050406030204" pitchFamily="18" charset="0"/>
                <a:ea typeface="Cambria" panose="02040503050406030204" pitchFamily="18" charset="0"/>
                <a:cs typeface="Calibri" panose="020F0502020204030204" pitchFamily="34" charset="0"/>
                <a:sym typeface="Calibri"/>
              </a:rPr>
              <a:t>5</a:t>
            </a:r>
            <a:endParaRPr sz="700" b="0" i="0" u="none" strike="noStrike" cap="none">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228" name="Google Shape;228;p19"/>
          <p:cNvSpPr txBox="1"/>
          <p:nvPr/>
        </p:nvSpPr>
        <p:spPr>
          <a:xfrm>
            <a:off x="5835778" y="854050"/>
            <a:ext cx="2855044" cy="24003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100"/>
              <a:buFont typeface="Cambria"/>
              <a:buNone/>
            </a:pPr>
            <a:r>
              <a:rPr lang="en" b="1" i="0" u="none" strike="noStrike" cap="none" dirty="0">
                <a:solidFill>
                  <a:schemeClr val="tx1"/>
                </a:solidFill>
                <a:latin typeface="Cambria" panose="02040503050406030204" pitchFamily="18" charset="0"/>
                <a:ea typeface="Cambria" panose="02040503050406030204" pitchFamily="18" charset="0"/>
                <a:cs typeface="Calibri" panose="020F0502020204030204" pitchFamily="34" charset="0"/>
                <a:sym typeface="Cambria"/>
              </a:rPr>
              <a:t>IMPACT AT A GLANCE</a:t>
            </a:r>
            <a:endParaRPr b="0" i="0" u="none" strike="noStrike" cap="none" dirty="0">
              <a:solidFill>
                <a:schemeClr val="tx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250" name="Google Shape;250;p19"/>
          <p:cNvSpPr txBox="1"/>
          <p:nvPr/>
        </p:nvSpPr>
        <p:spPr>
          <a:xfrm flipV="1">
            <a:off x="624468" y="4498627"/>
            <a:ext cx="7904475" cy="192017"/>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000"/>
              <a:buFont typeface="Cambria"/>
              <a:buNone/>
            </a:pPr>
            <a:r>
              <a:rPr lang="en" sz="1000" b="1" i="0" u="none" strike="noStrike" cap="none" dirty="0">
                <a:solidFill>
                  <a:srgbClr val="154360"/>
                </a:solidFill>
                <a:latin typeface="Cambria" panose="02040503050406030204" pitchFamily="18" charset="0"/>
                <a:ea typeface="Cambria" panose="02040503050406030204" pitchFamily="18" charset="0"/>
                <a:cs typeface="Calibri" panose="020F0502020204030204" pitchFamily="34" charset="0"/>
                <a:sym typeface="Cambria"/>
              </a:rPr>
              <a:t>ALIGNED WITH NATIONAL PRIORITIES</a:t>
            </a:r>
            <a:endParaRPr sz="1000" b="0" i="0" u="none" strike="noStrike" cap="none" dirty="0">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251" name="Google Shape;251;p19"/>
          <p:cNvSpPr/>
          <p:nvPr/>
        </p:nvSpPr>
        <p:spPr>
          <a:xfrm>
            <a:off x="120978" y="4508857"/>
            <a:ext cx="2773603" cy="377190"/>
          </a:xfrm>
          <a:prstGeom prst="roundRect">
            <a:avLst>
              <a:gd name="adj" fmla="val 50000"/>
            </a:avLst>
          </a:prstGeom>
          <a:solidFill>
            <a:srgbClr val="1F618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dirty="0">
              <a:latin typeface="Cambria" panose="02040503050406030204" pitchFamily="18" charset="0"/>
              <a:ea typeface="Cambria" panose="02040503050406030204" pitchFamily="18" charset="0"/>
              <a:cs typeface="Calibri" panose="020F0502020204030204" pitchFamily="34" charset="0"/>
            </a:endParaRPr>
          </a:p>
        </p:txBody>
      </p:sp>
      <p:sp>
        <p:nvSpPr>
          <p:cNvPr id="252" name="Google Shape;252;p19"/>
          <p:cNvSpPr txBox="1"/>
          <p:nvPr/>
        </p:nvSpPr>
        <p:spPr>
          <a:xfrm>
            <a:off x="104289" y="4496332"/>
            <a:ext cx="2773603" cy="377190"/>
          </a:xfrm>
          <a:prstGeom prst="rect">
            <a:avLst/>
          </a:prstGeom>
          <a:noFill/>
          <a:ln>
            <a:noFill/>
          </a:ln>
        </p:spPr>
        <p:txBody>
          <a:bodyPr spcFirstLastPara="1" wrap="square" lIns="0" tIns="0" rIns="0" bIns="0" anchor="ctr" anchorCtr="0">
            <a:noAutofit/>
          </a:bodyPr>
          <a:lstStyle/>
          <a:p>
            <a:pPr lvl="0" algn="ctr">
              <a:buClr>
                <a:srgbClr val="FFFFFF"/>
              </a:buClr>
              <a:buSzPts val="900"/>
            </a:pPr>
            <a:r>
              <a:rPr lang="en-IN" sz="900" b="1" dirty="0">
                <a:solidFill>
                  <a:schemeClr val="bg1"/>
                </a:solidFill>
                <a:latin typeface="Cambria" panose="02040503050406030204" pitchFamily="18" charset="0"/>
                <a:ea typeface="Cambria" panose="02040503050406030204" pitchFamily="18" charset="0"/>
                <a:cs typeface="Calibri" panose="020F0502020204030204" pitchFamily="34" charset="0"/>
              </a:rPr>
              <a:t>ABDM</a:t>
            </a:r>
            <a:r>
              <a:rPr lang="en-IN" sz="900" dirty="0">
                <a:solidFill>
                  <a:schemeClr val="bg1"/>
                </a:solidFill>
                <a:latin typeface="Cambria" panose="02040503050406030204" pitchFamily="18" charset="0"/>
                <a:ea typeface="Cambria" panose="02040503050406030204" pitchFamily="18" charset="0"/>
                <a:cs typeface="Calibri" panose="020F0502020204030204" pitchFamily="34" charset="0"/>
              </a:rPr>
              <a:t> — Digital healthcare and interoperability</a:t>
            </a:r>
            <a:endParaRPr sz="900" b="0" i="0" u="none" strike="noStrike" cap="none" dirty="0">
              <a:solidFill>
                <a:schemeClr val="bg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253" name="Google Shape;253;p19"/>
          <p:cNvSpPr/>
          <p:nvPr/>
        </p:nvSpPr>
        <p:spPr>
          <a:xfrm>
            <a:off x="3062175" y="4510235"/>
            <a:ext cx="2773603" cy="377190"/>
          </a:xfrm>
          <a:prstGeom prst="roundRect">
            <a:avLst>
              <a:gd name="adj" fmla="val 50000"/>
            </a:avLst>
          </a:prstGeom>
          <a:solidFill>
            <a:srgbClr val="1F618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dirty="0">
              <a:latin typeface="Cambria" panose="02040503050406030204" pitchFamily="18" charset="0"/>
              <a:ea typeface="Cambria" panose="02040503050406030204" pitchFamily="18" charset="0"/>
              <a:cs typeface="Calibri" panose="020F0502020204030204" pitchFamily="34" charset="0"/>
            </a:endParaRPr>
          </a:p>
        </p:txBody>
      </p:sp>
      <p:sp>
        <p:nvSpPr>
          <p:cNvPr id="254" name="Google Shape;254;p19"/>
          <p:cNvSpPr txBox="1"/>
          <p:nvPr/>
        </p:nvSpPr>
        <p:spPr>
          <a:xfrm>
            <a:off x="3076954" y="4496332"/>
            <a:ext cx="2773603" cy="377190"/>
          </a:xfrm>
          <a:prstGeom prst="rect">
            <a:avLst/>
          </a:prstGeom>
          <a:noFill/>
          <a:ln>
            <a:noFill/>
          </a:ln>
        </p:spPr>
        <p:txBody>
          <a:bodyPr spcFirstLastPara="1" wrap="square" lIns="0" tIns="0" rIns="0" bIns="0" anchor="ctr" anchorCtr="0">
            <a:noAutofit/>
          </a:bodyPr>
          <a:lstStyle/>
          <a:p>
            <a:pPr lvl="0" algn="ctr">
              <a:buClr>
                <a:srgbClr val="FFFFFF"/>
              </a:buClr>
              <a:buSzPts val="900"/>
            </a:pPr>
            <a:r>
              <a:rPr lang="en-IN" sz="900" b="1" dirty="0">
                <a:solidFill>
                  <a:schemeClr val="bg1"/>
                </a:solidFill>
                <a:latin typeface="Cambria" panose="02040503050406030204" pitchFamily="18" charset="0"/>
                <a:ea typeface="Cambria" panose="02040503050406030204" pitchFamily="18" charset="0"/>
                <a:cs typeface="Calibri" panose="020F0502020204030204" pitchFamily="34" charset="0"/>
              </a:rPr>
              <a:t>NPCCHH</a:t>
            </a:r>
            <a:r>
              <a:rPr lang="en-IN" sz="900" dirty="0">
                <a:solidFill>
                  <a:schemeClr val="bg1"/>
                </a:solidFill>
                <a:latin typeface="Cambria" panose="02040503050406030204" pitchFamily="18" charset="0"/>
                <a:ea typeface="Cambria" panose="02040503050406030204" pitchFamily="18" charset="0"/>
                <a:cs typeface="Calibri" panose="020F0502020204030204" pitchFamily="34" charset="0"/>
              </a:rPr>
              <a:t> — Climate and environmental health</a:t>
            </a:r>
            <a:endParaRPr sz="900" b="0" i="0" u="none" strike="noStrike" cap="none" dirty="0">
              <a:solidFill>
                <a:schemeClr val="bg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255" name="Google Shape;255;p19"/>
          <p:cNvSpPr/>
          <p:nvPr/>
        </p:nvSpPr>
        <p:spPr>
          <a:xfrm>
            <a:off x="6032930" y="4504344"/>
            <a:ext cx="2773604" cy="377190"/>
          </a:xfrm>
          <a:prstGeom prst="roundRect">
            <a:avLst>
              <a:gd name="adj" fmla="val 50000"/>
            </a:avLst>
          </a:prstGeom>
          <a:solidFill>
            <a:srgbClr val="1F618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Cambria" panose="02040503050406030204" pitchFamily="18" charset="0"/>
              <a:ea typeface="Cambria" panose="02040503050406030204" pitchFamily="18" charset="0"/>
              <a:cs typeface="Calibri" panose="020F0502020204030204" pitchFamily="34" charset="0"/>
            </a:endParaRPr>
          </a:p>
        </p:txBody>
      </p:sp>
      <p:sp>
        <p:nvSpPr>
          <p:cNvPr id="256" name="Google Shape;256;p19"/>
          <p:cNvSpPr txBox="1"/>
          <p:nvPr/>
        </p:nvSpPr>
        <p:spPr>
          <a:xfrm>
            <a:off x="6339268" y="4509272"/>
            <a:ext cx="2123094" cy="351309"/>
          </a:xfrm>
          <a:prstGeom prst="rect">
            <a:avLst/>
          </a:prstGeom>
          <a:noFill/>
          <a:ln>
            <a:noFill/>
          </a:ln>
        </p:spPr>
        <p:txBody>
          <a:bodyPr spcFirstLastPara="1" wrap="square" lIns="0" tIns="0" rIns="0" bIns="0" anchor="ctr" anchorCtr="0">
            <a:noAutofit/>
          </a:bodyPr>
          <a:lstStyle/>
          <a:p>
            <a:pPr lvl="0">
              <a:buClr>
                <a:srgbClr val="FFFFFF"/>
              </a:buClr>
              <a:buSzPts val="900"/>
            </a:pPr>
            <a:r>
              <a:rPr lang="en-IN" sz="900" b="1" dirty="0">
                <a:solidFill>
                  <a:schemeClr val="bg1"/>
                </a:solidFill>
                <a:latin typeface="Cambria" panose="02040503050406030204" pitchFamily="18" charset="0"/>
                <a:ea typeface="Cambria" panose="02040503050406030204" pitchFamily="18" charset="0"/>
                <a:cs typeface="Calibri" panose="020F0502020204030204" pitchFamily="34" charset="0"/>
              </a:rPr>
              <a:t>Digital India / </a:t>
            </a:r>
            <a:r>
              <a:rPr lang="en-IN" sz="900" b="1" dirty="0" err="1">
                <a:solidFill>
                  <a:schemeClr val="bg1"/>
                </a:solidFill>
                <a:latin typeface="Cambria" panose="02040503050406030204" pitchFamily="18" charset="0"/>
                <a:ea typeface="Cambria" panose="02040503050406030204" pitchFamily="18" charset="0"/>
                <a:cs typeface="Calibri" panose="020F0502020204030204" pitchFamily="34" charset="0"/>
              </a:rPr>
              <a:t>IndiaAI</a:t>
            </a:r>
            <a:r>
              <a:rPr lang="en-IN" sz="900" b="1" dirty="0">
                <a:solidFill>
                  <a:schemeClr val="bg1"/>
                </a:solidFill>
                <a:latin typeface="Cambria" panose="02040503050406030204" pitchFamily="18" charset="0"/>
                <a:ea typeface="Cambria" panose="02040503050406030204" pitchFamily="18" charset="0"/>
                <a:cs typeface="Calibri" panose="020F0502020204030204" pitchFamily="34" charset="0"/>
              </a:rPr>
              <a:t> Mission-</a:t>
            </a:r>
            <a:br>
              <a:rPr lang="en-IN" sz="900" dirty="0">
                <a:solidFill>
                  <a:schemeClr val="bg1"/>
                </a:solidFill>
                <a:latin typeface="Cambria" panose="02040503050406030204" pitchFamily="18" charset="0"/>
                <a:ea typeface="Cambria" panose="02040503050406030204" pitchFamily="18" charset="0"/>
                <a:cs typeface="Calibri" panose="020F0502020204030204" pitchFamily="34" charset="0"/>
              </a:rPr>
            </a:br>
            <a:r>
              <a:rPr lang="en-IN" sz="900" dirty="0">
                <a:solidFill>
                  <a:schemeClr val="bg1"/>
                </a:solidFill>
                <a:latin typeface="Cambria" panose="02040503050406030204" pitchFamily="18" charset="0"/>
                <a:ea typeface="Cambria" panose="02040503050406030204" pitchFamily="18" charset="0"/>
                <a:cs typeface="Calibri" panose="020F0502020204030204" pitchFamily="34" charset="0"/>
              </a:rPr>
              <a:t>Secure, inclusive Edge-AI &amp; IoT innovation</a:t>
            </a:r>
            <a:endParaRPr sz="900" i="0" u="none" strike="noStrike" cap="none" dirty="0">
              <a:solidFill>
                <a:schemeClr val="bg1"/>
              </a:solidFill>
              <a:latin typeface="Cambria" panose="02040503050406030204" pitchFamily="18" charset="0"/>
              <a:ea typeface="Cambria" panose="02040503050406030204" pitchFamily="18" charset="0"/>
              <a:cs typeface="Calibri" panose="020F0502020204030204" pitchFamily="34" charset="0"/>
              <a:sym typeface="Calibri"/>
            </a:endParaRPr>
          </a:p>
        </p:txBody>
      </p:sp>
      <p:graphicFrame>
        <p:nvGraphicFramePr>
          <p:cNvPr id="2" name="Table 1">
            <a:extLst>
              <a:ext uri="{FF2B5EF4-FFF2-40B4-BE49-F238E27FC236}">
                <a16:creationId xmlns:a16="http://schemas.microsoft.com/office/drawing/2014/main" id="{1A535DA6-6D8A-3515-49B2-6DDF9003D84E}"/>
              </a:ext>
            </a:extLst>
          </p:cNvPr>
          <p:cNvGraphicFramePr>
            <a:graphicFrameLocks noGrp="1"/>
          </p:cNvGraphicFramePr>
          <p:nvPr>
            <p:extLst>
              <p:ext uri="{D42A27DB-BD31-4B8C-83A1-F6EECF244321}">
                <p14:modId xmlns:p14="http://schemas.microsoft.com/office/powerpoint/2010/main" val="502311304"/>
              </p:ext>
            </p:extLst>
          </p:nvPr>
        </p:nvGraphicFramePr>
        <p:xfrm>
          <a:off x="5550024" y="1267030"/>
          <a:ext cx="3385950" cy="2788897"/>
        </p:xfrm>
        <a:graphic>
          <a:graphicData uri="http://schemas.openxmlformats.org/drawingml/2006/table">
            <a:tbl>
              <a:tblPr>
                <a:tableStyleId>{26267117-B0A3-4B98-B540-8E997AC7D2F3}</a:tableStyleId>
              </a:tblPr>
              <a:tblGrid>
                <a:gridCol w="1274382">
                  <a:extLst>
                    <a:ext uri="{9D8B030D-6E8A-4147-A177-3AD203B41FA5}">
                      <a16:colId xmlns:a16="http://schemas.microsoft.com/office/drawing/2014/main" val="640001886"/>
                    </a:ext>
                  </a:extLst>
                </a:gridCol>
                <a:gridCol w="2111568">
                  <a:extLst>
                    <a:ext uri="{9D8B030D-6E8A-4147-A177-3AD203B41FA5}">
                      <a16:colId xmlns:a16="http://schemas.microsoft.com/office/drawing/2014/main" val="2385416449"/>
                    </a:ext>
                  </a:extLst>
                </a:gridCol>
              </a:tblGrid>
              <a:tr h="224463">
                <a:tc>
                  <a:txBody>
                    <a:bodyPr/>
                    <a:lstStyle/>
                    <a:p>
                      <a:pPr>
                        <a:buNone/>
                        <a:defRPr sz="700" b="1"/>
                      </a:pPr>
                      <a:r>
                        <a:rPr lang="en-IN" sz="1000" b="1" dirty="0">
                          <a:latin typeface="Cambria" panose="02040503050406030204" pitchFamily="18" charset="0"/>
                          <a:ea typeface="Cambria" panose="02040503050406030204" pitchFamily="18" charset="0"/>
                        </a:rPr>
                        <a:t>Impact Metric</a:t>
                      </a:r>
                      <a:endParaRPr lang="en-IN" sz="1000" dirty="0">
                        <a:latin typeface="Cambria" panose="02040503050406030204" pitchFamily="18" charset="0"/>
                        <a:ea typeface="Cambria" panose="02040503050406030204" pitchFamily="18" charset="0"/>
                      </a:endParaRPr>
                    </a:p>
                  </a:txBody>
                  <a:tcPr marL="27432" marR="27432" marT="18288" marB="18288" anchor="ctr"/>
                </a:tc>
                <a:tc>
                  <a:txBody>
                    <a:bodyPr/>
                    <a:lstStyle/>
                    <a:p>
                      <a:pPr>
                        <a:buNone/>
                        <a:defRPr sz="700" b="1"/>
                      </a:pPr>
                      <a:r>
                        <a:rPr lang="en-IN" sz="1000" b="1">
                          <a:latin typeface="Cambria" panose="02040503050406030204" pitchFamily="18" charset="0"/>
                          <a:ea typeface="Cambria" panose="02040503050406030204" pitchFamily="18" charset="0"/>
                        </a:rPr>
                        <a:t>AERIS Target / Value</a:t>
                      </a:r>
                      <a:endParaRPr lang="en-IN" sz="1000">
                        <a:latin typeface="Cambria" panose="02040503050406030204" pitchFamily="18" charset="0"/>
                        <a:ea typeface="Cambria" panose="02040503050406030204" pitchFamily="18" charset="0"/>
                      </a:endParaRPr>
                    </a:p>
                  </a:txBody>
                  <a:tcPr marL="27432" marR="27432" marT="18288" marB="18288" anchor="ctr"/>
                </a:tc>
                <a:extLst>
                  <a:ext uri="{0D108BD9-81ED-4DB2-BD59-A6C34878D82A}">
                    <a16:rowId xmlns:a16="http://schemas.microsoft.com/office/drawing/2014/main" val="2298031985"/>
                  </a:ext>
                </a:extLst>
              </a:tr>
              <a:tr h="315835">
                <a:tc>
                  <a:txBody>
                    <a:bodyPr/>
                    <a:lstStyle/>
                    <a:p>
                      <a:pPr>
                        <a:defRPr sz="650"/>
                      </a:pPr>
                      <a:r>
                        <a:t>👥 Year-1 Reach Target</a:t>
                      </a:r>
                    </a:p>
                  </a:txBody>
                  <a:tcPr marL="27432" marR="27432" marT="18288" marB="18288" anchor="ctr"/>
                </a:tc>
                <a:tc>
                  <a:txBody>
                    <a:bodyPr/>
                    <a:lstStyle/>
                    <a:p>
                      <a:pPr>
                        <a:defRPr sz="650"/>
                      </a:pPr>
                      <a:r>
                        <a:t>10,000 pilot users (Target)</a:t>
                      </a:r>
                    </a:p>
                  </a:txBody>
                  <a:tcPr marL="27432" marR="27432" marT="18288" marB="18288" anchor="ctr"/>
                </a:tc>
                <a:extLst>
                  <a:ext uri="{0D108BD9-81ED-4DB2-BD59-A6C34878D82A}">
                    <a16:rowId xmlns:a16="http://schemas.microsoft.com/office/drawing/2014/main" val="3604324806"/>
                  </a:ext>
                </a:extLst>
              </a:tr>
              <a:tr h="315835">
                <a:tc>
                  <a:txBody>
                    <a:bodyPr/>
                    <a:lstStyle/>
                    <a:p>
                      <a:pPr>
                        <a:defRPr sz="650"/>
                      </a:pPr>
                      <a:r>
                        <a:t>💰 Estimated Prototype Cost</a:t>
                      </a:r>
                    </a:p>
                  </a:txBody>
                  <a:tcPr marL="27432" marR="27432" marT="18288" marB="18288" anchor="ctr"/>
                </a:tc>
                <a:tc>
                  <a:txBody>
                    <a:bodyPr/>
                    <a:lstStyle/>
                    <a:p>
                      <a:pPr>
                        <a:defRPr sz="650"/>
                      </a:pPr>
                      <a:r>
                        <a:t>Estimated: ₹1,000–1,500 (BOM Component Target)</a:t>
                      </a:r>
                    </a:p>
                  </a:txBody>
                  <a:tcPr marL="27432" marR="27432" marT="18288" marB="18288" anchor="ctr"/>
                </a:tc>
                <a:extLst>
                  <a:ext uri="{0D108BD9-81ED-4DB2-BD59-A6C34878D82A}">
                    <a16:rowId xmlns:a16="http://schemas.microsoft.com/office/drawing/2014/main" val="1285775834"/>
                  </a:ext>
                </a:extLst>
              </a:tr>
              <a:tr h="236876">
                <a:tc>
                  <a:txBody>
                    <a:bodyPr/>
                    <a:lstStyle/>
                    <a:p>
                      <a:pPr>
                        <a:defRPr sz="650"/>
                      </a:pPr>
                      <a:r>
                        <a:t>🧠 Processing Architecture</a:t>
                      </a:r>
                    </a:p>
                  </a:txBody>
                  <a:tcPr marL="27432" marR="27432" marT="18288" marB="18288" anchor="ctr"/>
                </a:tc>
                <a:tc>
                  <a:txBody>
                    <a:bodyPr/>
                    <a:lstStyle/>
                    <a:p>
                      <a:pPr>
                        <a:defRPr sz="650"/>
                      </a:pPr>
                      <a:r>
                        <a:t>Edge-first, privacy-preserving on-device AI</a:t>
                      </a:r>
                    </a:p>
                  </a:txBody>
                  <a:tcPr marL="27432" marR="27432" marT="18288" marB="18288" anchor="ctr"/>
                </a:tc>
                <a:extLst>
                  <a:ext uri="{0D108BD9-81ED-4DB2-BD59-A6C34878D82A}">
                    <a16:rowId xmlns:a16="http://schemas.microsoft.com/office/drawing/2014/main" val="1639899690"/>
                  </a:ext>
                </a:extLst>
              </a:tr>
              <a:tr h="236876">
                <a:tc>
                  <a:txBody>
                    <a:bodyPr/>
                    <a:lstStyle/>
                    <a:p>
                      <a:pPr>
                        <a:defRPr sz="650"/>
                      </a:pPr>
                      <a:r>
                        <a:t>📡 Connectivity Resilience</a:t>
                      </a:r>
                    </a:p>
                  </a:txBody>
                  <a:tcPr marL="27432" marR="27432" marT="18288" marB="18288" anchor="ctr"/>
                </a:tc>
                <a:tc>
                  <a:txBody>
                    <a:bodyPr/>
                    <a:lstStyle/>
                    <a:p>
                      <a:pPr>
                        <a:defRPr sz="650"/>
                      </a:pPr>
                      <a:r>
                        <a:t>Online (BLE/Wi-Fi) + Offline (LoRa) safety</a:t>
                      </a:r>
                    </a:p>
                  </a:txBody>
                  <a:tcPr marL="27432" marR="27432" marT="18288" marB="18288" anchor="ctr"/>
                </a:tc>
                <a:extLst>
                  <a:ext uri="{0D108BD9-81ED-4DB2-BD59-A6C34878D82A}">
                    <a16:rowId xmlns:a16="http://schemas.microsoft.com/office/drawing/2014/main" val="2885187358"/>
                  </a:ext>
                </a:extLst>
              </a:tr>
              <a:tr h="364753">
                <a:tc>
                  <a:txBody>
                    <a:bodyPr/>
                    <a:lstStyle/>
                    <a:p>
                      <a:pPr>
                        <a:defRPr sz="650"/>
                      </a:pPr>
                      <a:r>
                        <a:t>🚨 Rapid Response Protocol</a:t>
                      </a:r>
                    </a:p>
                  </a:txBody>
                  <a:tcPr marL="27432" marR="27432" marT="18288" marB="18288" anchor="ctr"/>
                </a:tc>
                <a:tc>
                  <a:txBody>
                    <a:bodyPr/>
                    <a:lstStyle/>
                    <a:p>
                      <a:pPr>
                        <a:defRPr sz="650"/>
                      </a:pPr>
                      <a:r>
                        <a:t>Risk Index → Buzzer → 8s confirmation → Alert</a:t>
                      </a:r>
                    </a:p>
                  </a:txBody>
                  <a:tcPr marL="27432" marR="27432" marT="18288" marB="18288" anchor="ctr"/>
                </a:tc>
                <a:extLst>
                  <a:ext uri="{0D108BD9-81ED-4DB2-BD59-A6C34878D82A}">
                    <a16:rowId xmlns:a16="http://schemas.microsoft.com/office/drawing/2014/main" val="2924880259"/>
                  </a:ext>
                </a:extLst>
              </a:tr>
              <a:tr h="364753">
                <a:tc>
                  <a:txBody>
                    <a:bodyPr/>
                    <a:lstStyle/>
                    <a:p>
                      <a:pPr>
                        <a:defRPr sz="650"/>
                      </a:pPr>
                      <a:r>
                        <a:t>📈 Long-Term Scalability Target</a:t>
                      </a:r>
                    </a:p>
                  </a:txBody>
                  <a:tcPr marL="27432" marR="27432" marT="18288" marB="18288" anchor="ctr"/>
                </a:tc>
                <a:tc>
                  <a:txBody>
                    <a:bodyPr/>
                    <a:lstStyle/>
                    <a:p>
                      <a:pPr>
                        <a:defRPr sz="650"/>
                      </a:pPr>
                      <a:r>
                        <a:t>1M+ users (Modular multi-form architecture target)</a:t>
                      </a:r>
                    </a:p>
                  </a:txBody>
                  <a:tcPr marL="27432" marR="27432" marT="18288" marB="18288" anchor="ctr"/>
                </a:tc>
                <a:extLst>
                  <a:ext uri="{0D108BD9-81ED-4DB2-BD59-A6C34878D82A}">
                    <a16:rowId xmlns:a16="http://schemas.microsoft.com/office/drawing/2014/main" val="2042680958"/>
                  </a:ext>
                </a:extLst>
              </a:tr>
              <a:tr h="364753">
                <a:tc>
                  <a:txBody>
                    <a:bodyPr/>
                    <a:lstStyle/>
                    <a:p>
                      <a:pPr>
                        <a:defRPr sz="650"/>
                      </a:pPr>
                      <a:r>
                        <a:t>🌦️ Risk Coverage Scope</a:t>
                      </a:r>
                    </a:p>
                  </a:txBody>
                  <a:tcPr marL="27432" marR="27432" marT="18288" marB="18288" anchor="ctr"/>
                </a:tc>
                <a:tc>
                  <a:txBody>
                    <a:bodyPr/>
                    <a:lstStyle/>
                    <a:p>
                      <a:pPr>
                        <a:defRPr sz="650"/>
                      </a:pPr>
                      <a:r>
                        <a:t>Multi-modal: Vitals + Mobility + Environment + Weather</a:t>
                      </a:r>
                    </a:p>
                  </a:txBody>
                  <a:tcPr marL="27432" marR="27432" marT="18288" marB="18288" anchor="ctr"/>
                </a:tc>
                <a:extLst>
                  <a:ext uri="{0D108BD9-81ED-4DB2-BD59-A6C34878D82A}">
                    <a16:rowId xmlns:a16="http://schemas.microsoft.com/office/drawing/2014/main" val="1758681271"/>
                  </a:ext>
                </a:extLst>
              </a:tr>
              <a:tr h="364753">
                <a:tc>
                  <a:txBody>
                    <a:bodyPr/>
                    <a:lstStyle/>
                    <a:p>
                      <a:pPr>
                        <a:defRPr sz="650"/>
                      </a:pPr>
                      <a:r>
                        <a:t>📊 Market Growth Estimate</a:t>
                      </a:r>
                    </a:p>
                  </a:txBody>
                  <a:tcPr marL="27432" marR="27432" marT="18288" marB="18288" anchor="ctr"/>
                </a:tc>
                <a:tc>
                  <a:txBody>
                    <a:bodyPr/>
                    <a:lstStyle/>
                    <a:p>
                      <a:pPr>
                        <a:defRPr sz="650"/>
                      </a:pPr>
                      <a:r>
                        <a:t>11.49% CAGR (Preventive Healthcare Tech 2024–2032)*</a:t>
                      </a:r>
                    </a:p>
                  </a:txBody>
                  <a:tcPr marL="27432" marR="27432" marT="18288" marB="18288" anchor="ctr"/>
                </a:tc>
                <a:extLst>
                  <a:ext uri="{0D108BD9-81ED-4DB2-BD59-A6C34878D82A}">
                    <a16:rowId xmlns:a16="http://schemas.microsoft.com/office/drawing/2014/main" val="1623053983"/>
                  </a:ext>
                </a:extLst>
              </a:tr>
            </a:tbl>
          </a:graphicData>
        </a:graphic>
      </p:graphicFrame>
      <p:sp>
        <p:nvSpPr>
          <p:cNvPr id="54" name="Google Shape;248;p19">
            <a:extLst>
              <a:ext uri="{FF2B5EF4-FFF2-40B4-BE49-F238E27FC236}">
                <a16:creationId xmlns:a16="http://schemas.microsoft.com/office/drawing/2014/main" id="{4666D2E0-C529-4DD8-4AF1-59850E22B056}"/>
              </a:ext>
            </a:extLst>
          </p:cNvPr>
          <p:cNvSpPr txBox="1"/>
          <p:nvPr/>
        </p:nvSpPr>
        <p:spPr>
          <a:xfrm>
            <a:off x="287168" y="3196489"/>
            <a:ext cx="2590724"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96F3D"/>
              </a:buClr>
              <a:buSzPts val="1000"/>
              <a:buFont typeface="Cambria"/>
              <a:buNone/>
            </a:pPr>
            <a:endParaRPr sz="1000" b="0" i="0" u="none" strike="noStrike" cap="none" dirty="0">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8" name="Google Shape;228;p19">
            <a:extLst>
              <a:ext uri="{FF2B5EF4-FFF2-40B4-BE49-F238E27FC236}">
                <a16:creationId xmlns:a16="http://schemas.microsoft.com/office/drawing/2014/main" id="{559407A8-8AB2-F1DE-1DEC-01DB93DC6854}"/>
              </a:ext>
            </a:extLst>
          </p:cNvPr>
          <p:cNvSpPr txBox="1"/>
          <p:nvPr/>
        </p:nvSpPr>
        <p:spPr>
          <a:xfrm>
            <a:off x="2248833" y="864124"/>
            <a:ext cx="940622" cy="24003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100"/>
              <a:buFont typeface="Cambria"/>
              <a:buNone/>
            </a:pPr>
            <a:r>
              <a:rPr lang="en-US" b="1" dirty="0">
                <a:solidFill>
                  <a:schemeClr val="dk1"/>
                </a:solidFill>
                <a:latin typeface="Cambria" panose="02040503050406030204" pitchFamily="18" charset="0"/>
                <a:ea typeface="Cambria" panose="02040503050406030204" pitchFamily="18" charset="0"/>
                <a:cs typeface="Calibri" panose="020F0502020204030204" pitchFamily="34" charset="0"/>
                <a:sym typeface="Calibri"/>
              </a:rPr>
              <a:t>BENEFITS</a:t>
            </a:r>
            <a:endParaRPr b="1" i="0" u="none" strike="noStrike" cap="none" dirty="0">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pic>
        <p:nvPicPr>
          <p:cNvPr id="10" name="Picture 9">
            <a:extLst>
              <a:ext uri="{FF2B5EF4-FFF2-40B4-BE49-F238E27FC236}">
                <a16:creationId xmlns:a16="http://schemas.microsoft.com/office/drawing/2014/main" id="{C38F385B-696A-BCC2-DFD8-3A226E3E5291}"/>
              </a:ext>
            </a:extLst>
          </p:cNvPr>
          <p:cNvPicPr>
            <a:picLocks noChangeAspect="1"/>
          </p:cNvPicPr>
          <p:nvPr/>
        </p:nvPicPr>
        <p:blipFill>
          <a:blip r:embed="rId3"/>
          <a:stretch>
            <a:fillRect/>
          </a:stretch>
        </p:blipFill>
        <p:spPr>
          <a:xfrm>
            <a:off x="104289" y="1159001"/>
            <a:ext cx="5229711" cy="3231238"/>
          </a:xfrm>
          <a:prstGeom prst="rect">
            <a:avLst/>
          </a:prstGeom>
        </p:spPr>
      </p:pic>
      <p:pic>
        <p:nvPicPr>
          <p:cNvPr id="5" name="Picture 4">
            <a:extLst>
              <a:ext uri="{FF2B5EF4-FFF2-40B4-BE49-F238E27FC236}">
                <a16:creationId xmlns:a16="http://schemas.microsoft.com/office/drawing/2014/main" id="{72105745-E9E7-419D-C682-E05A3A8A3E9E}"/>
              </a:ext>
            </a:extLst>
          </p:cNvPr>
          <p:cNvPicPr>
            <a:picLocks noChangeAspect="1"/>
          </p:cNvPicPr>
          <p:nvPr/>
        </p:nvPicPr>
        <p:blipFill>
          <a:blip r:embed="rId4"/>
          <a:stretch>
            <a:fillRect/>
          </a:stretch>
        </p:blipFill>
        <p:spPr>
          <a:xfrm>
            <a:off x="204766" y="63717"/>
            <a:ext cx="728891" cy="616513"/>
          </a:xfrm>
          <a:prstGeom prst="rect">
            <a:avLst/>
          </a:prstGeom>
        </p:spPr>
      </p:pic>
      <p:sp>
        <p:nvSpPr>
          <p:cNvPr id="257" name="TextBox 256"/>
          <p:cNvSpPr txBox="1"/>
          <p:nvPr/>
        </p:nvSpPr>
        <p:spPr>
          <a:xfrm>
            <a:off x="120978" y="4979615"/>
            <a:ext cx="8412480" cy="201168"/>
          </a:xfrm>
          <a:prstGeom prst="rect">
            <a:avLst/>
          </a:prstGeom>
          <a:noFill/>
        </p:spPr>
        <p:txBody>
          <a:bodyPr wrap="none" lIns="0" tIns="0" rIns="0" bIns="0">
            <a:spAutoFit/>
          </a:bodyPr>
          <a:lstStyle/>
          <a:p>
            <a:pPr>
              <a:defRPr sz="600" i="1">
                <a:solidFill>
                  <a:srgbClr val="64748B"/>
                </a:solidFill>
              </a:defRPr>
            </a:pPr>
            <a:r>
              <a:rPr dirty="0"/>
              <a:t>*Market Source: Research and Markets – Global Preventive Healthcare Technologies and Services Market Report (2024–2032), 11.49% CAGR.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sp>
        <p:nvSpPr>
          <p:cNvPr id="11" name="Google Shape;295;p21">
            <a:extLst>
              <a:ext uri="{FF2B5EF4-FFF2-40B4-BE49-F238E27FC236}">
                <a16:creationId xmlns:a16="http://schemas.microsoft.com/office/drawing/2014/main" id="{A46BF686-1C80-16D8-322A-2D342A533D7A}"/>
              </a:ext>
            </a:extLst>
          </p:cNvPr>
          <p:cNvSpPr/>
          <p:nvPr/>
        </p:nvSpPr>
        <p:spPr>
          <a:xfrm>
            <a:off x="4469016" y="1097279"/>
            <a:ext cx="4466958" cy="3326132"/>
          </a:xfrm>
          <a:prstGeom prst="rect">
            <a:avLst/>
          </a:prstGeom>
          <a:solidFill>
            <a:schemeClr val="bg1"/>
          </a:solidFill>
          <a:ln w="12700" cap="flat" cmpd="sng">
            <a:solidFill>
              <a:srgbClr val="D4AC0D"/>
            </a:solidFill>
            <a:prstDash val="dash"/>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Cambria" panose="02040503050406030204" pitchFamily="18" charset="0"/>
              <a:ea typeface="Cambria" panose="02040503050406030204" pitchFamily="18" charset="0"/>
              <a:cs typeface="Calibri" panose="020F0502020204030204" pitchFamily="34" charset="0"/>
            </a:endParaRPr>
          </a:p>
        </p:txBody>
      </p:sp>
      <p:sp>
        <p:nvSpPr>
          <p:cNvPr id="265" name="Google Shape;265;p20"/>
          <p:cNvSpPr txBox="1"/>
          <p:nvPr/>
        </p:nvSpPr>
        <p:spPr>
          <a:xfrm>
            <a:off x="1954530" y="68580"/>
            <a:ext cx="521208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4360"/>
              </a:buClr>
              <a:buSzPts val="1900"/>
              <a:buFont typeface="Cambria"/>
              <a:buNone/>
            </a:pPr>
            <a:r>
              <a:rPr lang="en" sz="1900" b="1" i="0" u="none" strike="noStrike" cap="none" dirty="0">
                <a:solidFill>
                  <a:srgbClr val="154360"/>
                </a:solidFill>
                <a:latin typeface="Cambria" panose="02040503050406030204" pitchFamily="18" charset="0"/>
                <a:ea typeface="Cambria" panose="02040503050406030204" pitchFamily="18" charset="0"/>
                <a:cs typeface="Calibri" panose="020F0502020204030204" pitchFamily="34" charset="0"/>
                <a:sym typeface="Cambria"/>
              </a:rPr>
              <a:t>RESEARCH AND REFERENCES</a:t>
            </a:r>
            <a:endParaRPr sz="1900" b="0" i="0" u="none" strike="noStrike" cap="none" dirty="0">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cxnSp>
        <p:nvCxnSpPr>
          <p:cNvPr id="267" name="Google Shape;267;p20"/>
          <p:cNvCxnSpPr/>
          <p:nvPr/>
        </p:nvCxnSpPr>
        <p:spPr>
          <a:xfrm>
            <a:off x="205740" y="720090"/>
            <a:ext cx="8732291" cy="0"/>
          </a:xfrm>
          <a:prstGeom prst="straightConnector1">
            <a:avLst/>
          </a:prstGeom>
          <a:noFill/>
          <a:ln w="15875" cap="flat" cmpd="sng">
            <a:solidFill>
              <a:srgbClr val="2C3E50"/>
            </a:solidFill>
            <a:prstDash val="dash"/>
            <a:round/>
            <a:headEnd type="none" w="sm" len="sm"/>
            <a:tailEnd type="none" w="sm" len="sm"/>
          </a:ln>
        </p:spPr>
      </p:cxnSp>
      <p:sp>
        <p:nvSpPr>
          <p:cNvPr id="269" name="Google Shape;269;p20"/>
          <p:cNvSpPr txBox="1"/>
          <p:nvPr/>
        </p:nvSpPr>
        <p:spPr>
          <a:xfrm>
            <a:off x="8641080" y="4924044"/>
            <a:ext cx="294894" cy="19202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07B7C"/>
              </a:buClr>
              <a:buSzPts val="700"/>
              <a:buFont typeface="Calibri"/>
              <a:buNone/>
            </a:pPr>
            <a:r>
              <a:rPr lang="en" sz="700" b="0" i="0" u="none" strike="noStrike" cap="none">
                <a:solidFill>
                  <a:srgbClr val="707B7C"/>
                </a:solidFill>
                <a:latin typeface="Cambria" panose="02040503050406030204" pitchFamily="18" charset="0"/>
                <a:ea typeface="Cambria" panose="02040503050406030204" pitchFamily="18" charset="0"/>
                <a:cs typeface="Calibri" panose="020F0502020204030204" pitchFamily="34" charset="0"/>
                <a:sym typeface="Calibri"/>
              </a:rPr>
              <a:t>6</a:t>
            </a:r>
            <a:endParaRPr sz="700" b="0" i="0" u="none" strike="noStrike" cap="none">
              <a:solidFill>
                <a:schemeClr val="dk1"/>
              </a:solidFill>
              <a:latin typeface="Cambria" panose="02040503050406030204" pitchFamily="18" charset="0"/>
              <a:ea typeface="Cambria" panose="02040503050406030204" pitchFamily="18" charset="0"/>
              <a:cs typeface="Calibri" panose="020F0502020204030204" pitchFamily="34" charset="0"/>
              <a:sym typeface="Calibri"/>
            </a:endParaRPr>
          </a:p>
        </p:txBody>
      </p:sp>
      <p:sp>
        <p:nvSpPr>
          <p:cNvPr id="2" name="TextBox 1">
            <a:extLst>
              <a:ext uri="{FF2B5EF4-FFF2-40B4-BE49-F238E27FC236}">
                <a16:creationId xmlns:a16="http://schemas.microsoft.com/office/drawing/2014/main" id="{A6B9DF9D-6234-0F21-7344-401C1FE8F31A}"/>
              </a:ext>
            </a:extLst>
          </p:cNvPr>
          <p:cNvSpPr txBox="1"/>
          <p:nvPr/>
        </p:nvSpPr>
        <p:spPr>
          <a:xfrm>
            <a:off x="460813" y="1371600"/>
            <a:ext cx="4008203" cy="215444"/>
          </a:xfrm>
          <a:prstGeom prst="rect">
            <a:avLst/>
          </a:prstGeom>
          <a:noFill/>
        </p:spPr>
        <p:txBody>
          <a:bodyPr wrap="square" rtlCol="0">
            <a:spAutoFit/>
          </a:bodyPr>
          <a:lstStyle/>
          <a:p>
            <a:pPr marL="228600" indent="-228600">
              <a:buFont typeface="+mj-lt"/>
              <a:buAutoNum type="arabicPeriod"/>
            </a:pPr>
            <a:endParaRPr lang="en-IN" sz="800"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E7FCD572-3CAD-E1C4-DA9E-C689FBBC873B}"/>
              </a:ext>
            </a:extLst>
          </p:cNvPr>
          <p:cNvGraphicFramePr>
            <a:graphicFrameLocks noGrp="1"/>
          </p:cNvGraphicFramePr>
          <p:nvPr>
            <p:extLst>
              <p:ext uri="{D42A27DB-BD31-4B8C-83A1-F6EECF244321}">
                <p14:modId xmlns:p14="http://schemas.microsoft.com/office/powerpoint/2010/main" val="1356994305"/>
              </p:ext>
            </p:extLst>
          </p:nvPr>
        </p:nvGraphicFramePr>
        <p:xfrm>
          <a:off x="343127" y="1097279"/>
          <a:ext cx="3720054" cy="3548656"/>
        </p:xfrm>
        <a:graphic>
          <a:graphicData uri="http://schemas.openxmlformats.org/drawingml/2006/table">
            <a:tbl>
              <a:tblPr>
                <a:tableStyleId>{26267117-B0A3-4B98-B540-8E997AC7D2F3}</a:tableStyleId>
              </a:tblPr>
              <a:tblGrid>
                <a:gridCol w="1860027">
                  <a:extLst>
                    <a:ext uri="{9D8B030D-6E8A-4147-A177-3AD203B41FA5}">
                      <a16:colId xmlns:a16="http://schemas.microsoft.com/office/drawing/2014/main" val="1505695800"/>
                    </a:ext>
                  </a:extLst>
                </a:gridCol>
                <a:gridCol w="1860027">
                  <a:extLst>
                    <a:ext uri="{9D8B030D-6E8A-4147-A177-3AD203B41FA5}">
                      <a16:colId xmlns:a16="http://schemas.microsoft.com/office/drawing/2014/main" val="1225681943"/>
                    </a:ext>
                  </a:extLst>
                </a:gridCol>
              </a:tblGrid>
              <a:tr h="472045">
                <a:tc>
                  <a:txBody>
                    <a:bodyPr/>
                    <a:lstStyle/>
                    <a:p>
                      <a:pPr>
                        <a:buNone/>
                      </a:pPr>
                      <a:r>
                        <a:rPr lang="en-IN" sz="1100"/>
                        <a:t>Research Area</a:t>
                      </a:r>
                    </a:p>
                  </a:txBody>
                  <a:tcPr anchor="ctr"/>
                </a:tc>
                <a:tc>
                  <a:txBody>
                    <a:bodyPr/>
                    <a:lstStyle/>
                    <a:p>
                      <a:pPr>
                        <a:buNone/>
                      </a:pPr>
                      <a:r>
                        <a:rPr lang="en-IN" sz="1100"/>
                        <a:t>How it supports AERIS</a:t>
                      </a:r>
                    </a:p>
                  </a:txBody>
                  <a:tcPr anchor="ctr"/>
                </a:tc>
                <a:extLst>
                  <a:ext uri="{0D108BD9-81ED-4DB2-BD59-A6C34878D82A}">
                    <a16:rowId xmlns:a16="http://schemas.microsoft.com/office/drawing/2014/main" val="14648531"/>
                  </a:ext>
                </a:extLst>
              </a:tr>
              <a:tr h="472045">
                <a:tc>
                  <a:txBody>
                    <a:bodyPr/>
                    <a:lstStyle/>
                    <a:p>
                      <a:pPr>
                        <a:buNone/>
                      </a:pPr>
                      <a:r>
                        <a:rPr lang="en-IN" sz="1100"/>
                        <a:t>Wearable Health Monitoring</a:t>
                      </a:r>
                    </a:p>
                  </a:txBody>
                  <a:tcPr anchor="ctr"/>
                </a:tc>
                <a:tc>
                  <a:txBody>
                    <a:bodyPr/>
                    <a:lstStyle/>
                    <a:p>
                      <a:pPr>
                        <a:buNone/>
                      </a:pPr>
                      <a:r>
                        <a:rPr lang="en-IN" sz="1100"/>
                        <a:t>HR, SpO₂ &amp; temperature sensing</a:t>
                      </a:r>
                    </a:p>
                  </a:txBody>
                  <a:tcPr anchor="ctr"/>
                </a:tc>
                <a:extLst>
                  <a:ext uri="{0D108BD9-81ED-4DB2-BD59-A6C34878D82A}">
                    <a16:rowId xmlns:a16="http://schemas.microsoft.com/office/drawing/2014/main" val="2386916040"/>
                  </a:ext>
                </a:extLst>
              </a:tr>
              <a:tr h="472045">
                <a:tc>
                  <a:txBody>
                    <a:bodyPr/>
                    <a:lstStyle/>
                    <a:p>
                      <a:pPr>
                        <a:buNone/>
                      </a:pPr>
                      <a:r>
                        <a:rPr lang="en-IN" sz="1100"/>
                        <a:t>HRV &amp; Stress Analysis</a:t>
                      </a:r>
                    </a:p>
                  </a:txBody>
                  <a:tcPr anchor="ctr"/>
                </a:tc>
                <a:tc>
                  <a:txBody>
                    <a:bodyPr/>
                    <a:lstStyle/>
                    <a:p>
                      <a:pPr>
                        <a:buNone/>
                      </a:pPr>
                      <a:r>
                        <a:rPr lang="en-IN" sz="1100"/>
                        <a:t>HRV-based personal risk patterns</a:t>
                      </a:r>
                    </a:p>
                  </a:txBody>
                  <a:tcPr anchor="ctr"/>
                </a:tc>
                <a:extLst>
                  <a:ext uri="{0D108BD9-81ED-4DB2-BD59-A6C34878D82A}">
                    <a16:rowId xmlns:a16="http://schemas.microsoft.com/office/drawing/2014/main" val="431726758"/>
                  </a:ext>
                </a:extLst>
              </a:tr>
              <a:tr h="472045">
                <a:tc>
                  <a:txBody>
                    <a:bodyPr/>
                    <a:lstStyle/>
                    <a:p>
                      <a:pPr>
                        <a:buNone/>
                      </a:pPr>
                      <a:r>
                        <a:rPr lang="en-IN" sz="1100" dirty="0"/>
                        <a:t>Fall &amp; Mobility Detection</a:t>
                      </a:r>
                    </a:p>
                  </a:txBody>
                  <a:tcPr anchor="ctr"/>
                </a:tc>
                <a:tc>
                  <a:txBody>
                    <a:bodyPr/>
                    <a:lstStyle/>
                    <a:p>
                      <a:pPr>
                        <a:buNone/>
                      </a:pPr>
                      <a:r>
                        <a:rPr lang="en-IN" sz="1100"/>
                        <a:t>Motion, gait &amp; stability monitoring</a:t>
                      </a:r>
                    </a:p>
                  </a:txBody>
                  <a:tcPr anchor="ctr"/>
                </a:tc>
                <a:extLst>
                  <a:ext uri="{0D108BD9-81ED-4DB2-BD59-A6C34878D82A}">
                    <a16:rowId xmlns:a16="http://schemas.microsoft.com/office/drawing/2014/main" val="3834024607"/>
                  </a:ext>
                </a:extLst>
              </a:tr>
              <a:tr h="716386">
                <a:tc>
                  <a:txBody>
                    <a:bodyPr/>
                    <a:lstStyle/>
                    <a:p>
                      <a:pPr>
                        <a:buNone/>
                      </a:pPr>
                      <a:r>
                        <a:rPr lang="en-IN" sz="1100" dirty="0"/>
                        <a:t>Edge AI &amp; Privacy</a:t>
                      </a:r>
                    </a:p>
                  </a:txBody>
                  <a:tcPr anchor="ctr"/>
                </a:tc>
                <a:tc>
                  <a:txBody>
                    <a:bodyPr/>
                    <a:lstStyle/>
                    <a:p>
                      <a:pPr>
                        <a:buNone/>
                      </a:pPr>
                      <a:r>
                        <a:rPr lang="en-IN" sz="1100" dirty="0"/>
                        <a:t>Local processing &amp; reduced raw-data transmission</a:t>
                      </a:r>
                    </a:p>
                  </a:txBody>
                  <a:tcPr anchor="ctr"/>
                </a:tc>
                <a:extLst>
                  <a:ext uri="{0D108BD9-81ED-4DB2-BD59-A6C34878D82A}">
                    <a16:rowId xmlns:a16="http://schemas.microsoft.com/office/drawing/2014/main" val="3776251722"/>
                  </a:ext>
                </a:extLst>
              </a:tr>
              <a:tr h="472045">
                <a:tc>
                  <a:txBody>
                    <a:bodyPr/>
                    <a:lstStyle/>
                    <a:p>
                      <a:pPr>
                        <a:buNone/>
                      </a:pPr>
                      <a:r>
                        <a:rPr lang="en-IN" sz="1100"/>
                        <a:t>Environmental Health</a:t>
                      </a:r>
                    </a:p>
                  </a:txBody>
                  <a:tcPr anchor="ctr"/>
                </a:tc>
                <a:tc>
                  <a:txBody>
                    <a:bodyPr/>
                    <a:lstStyle/>
                    <a:p>
                      <a:pPr>
                        <a:buNone/>
                      </a:pPr>
                      <a:r>
                        <a:rPr lang="en-IN" sz="1100" dirty="0"/>
                        <a:t>Heat, humidity &amp; weather-related risk</a:t>
                      </a:r>
                    </a:p>
                  </a:txBody>
                  <a:tcPr anchor="ctr"/>
                </a:tc>
                <a:extLst>
                  <a:ext uri="{0D108BD9-81ED-4DB2-BD59-A6C34878D82A}">
                    <a16:rowId xmlns:a16="http://schemas.microsoft.com/office/drawing/2014/main" val="1311608273"/>
                  </a:ext>
                </a:extLst>
              </a:tr>
              <a:tr h="472045">
                <a:tc>
                  <a:txBody>
                    <a:bodyPr/>
                    <a:lstStyle/>
                    <a:p>
                      <a:pPr>
                        <a:buNone/>
                      </a:pPr>
                      <a:r>
                        <a:rPr lang="en-IN" sz="1100" dirty="0"/>
                        <a:t>LoRa Emergency Communication</a:t>
                      </a:r>
                    </a:p>
                  </a:txBody>
                  <a:tcPr anchor="ctr"/>
                </a:tc>
                <a:tc>
                  <a:txBody>
                    <a:bodyPr/>
                    <a:lstStyle/>
                    <a:p>
                      <a:pPr>
                        <a:buNone/>
                      </a:pPr>
                      <a:r>
                        <a:rPr lang="en-IN" sz="1100" dirty="0"/>
                        <a:t>Offline long-range safety alerts</a:t>
                      </a:r>
                    </a:p>
                  </a:txBody>
                  <a:tcPr anchor="ctr"/>
                </a:tc>
                <a:extLst>
                  <a:ext uri="{0D108BD9-81ED-4DB2-BD59-A6C34878D82A}">
                    <a16:rowId xmlns:a16="http://schemas.microsoft.com/office/drawing/2014/main" val="2800722997"/>
                  </a:ext>
                </a:extLst>
              </a:tr>
            </a:tbl>
          </a:graphicData>
        </a:graphic>
      </p:graphicFrame>
      <p:sp>
        <p:nvSpPr>
          <p:cNvPr id="5" name="TextBox 4">
            <a:extLst>
              <a:ext uri="{FF2B5EF4-FFF2-40B4-BE49-F238E27FC236}">
                <a16:creationId xmlns:a16="http://schemas.microsoft.com/office/drawing/2014/main" id="{334EB1C8-52A7-893C-BD08-EE6D715C8621}"/>
              </a:ext>
            </a:extLst>
          </p:cNvPr>
          <p:cNvSpPr txBox="1"/>
          <p:nvPr/>
        </p:nvSpPr>
        <p:spPr>
          <a:xfrm>
            <a:off x="1580034" y="770034"/>
            <a:ext cx="1246239" cy="307777"/>
          </a:xfrm>
          <a:prstGeom prst="rect">
            <a:avLst/>
          </a:prstGeom>
          <a:noFill/>
        </p:spPr>
        <p:txBody>
          <a:bodyPr wrap="square">
            <a:spAutoFit/>
          </a:bodyPr>
          <a:lstStyle/>
          <a:p>
            <a:r>
              <a:rPr lang="en-IN" b="1" dirty="0">
                <a:solidFill>
                  <a:schemeClr val="tx1"/>
                </a:solidFill>
                <a:latin typeface="Cambria" panose="02040503050406030204" pitchFamily="18" charset="0"/>
                <a:ea typeface="Cambria" panose="02040503050406030204" pitchFamily="18" charset="0"/>
                <a:cs typeface="Calibri" panose="020F0502020204030204" pitchFamily="34" charset="0"/>
              </a:rPr>
              <a:t>RESEARCH</a:t>
            </a:r>
          </a:p>
        </p:txBody>
      </p:sp>
      <p:sp>
        <p:nvSpPr>
          <p:cNvPr id="6" name="TextBox 5">
            <a:extLst>
              <a:ext uri="{FF2B5EF4-FFF2-40B4-BE49-F238E27FC236}">
                <a16:creationId xmlns:a16="http://schemas.microsoft.com/office/drawing/2014/main" id="{B669E48F-DADE-2E38-48BA-47AB5DF3CCF4}"/>
              </a:ext>
            </a:extLst>
          </p:cNvPr>
          <p:cNvSpPr txBox="1"/>
          <p:nvPr/>
        </p:nvSpPr>
        <p:spPr>
          <a:xfrm>
            <a:off x="4517136" y="1124712"/>
            <a:ext cx="4370832" cy="3259097"/>
          </a:xfrm>
          <a:prstGeom prst="rect">
            <a:avLst/>
          </a:prstGeom>
          <a:noFill/>
        </p:spPr>
        <p:txBody>
          <a:bodyPr wrap="square" lIns="45720" tIns="18288" rIns="45720" bIns="18288" rtlCol="0">
            <a:spAutoFit/>
          </a:bodyPr>
          <a:lstStyle/>
          <a:p>
            <a:pPr lvl="0" algn="just">
              <a:spcAft>
                <a:spcPts val="300"/>
              </a:spcAft>
              <a:defRPr sz="819" b="1">
                <a:solidFill>
                  <a:srgbClr val="0F172A"/>
                </a:solidFill>
              </a:defRPr>
            </a:pPr>
            <a:r>
              <a:rPr dirty="0"/>
              <a:t> </a:t>
            </a:r>
            <a:r>
              <a:rPr u="sng" dirty="0"/>
              <a:t>NATIONAL POLICY &amp; STANDARDS BENCHMARKS</a:t>
            </a:r>
          </a:p>
          <a:p>
            <a:pPr>
              <a:spcAft>
                <a:spcPts val="350"/>
              </a:spcAft>
            </a:pPr>
            <a:r>
              <a:rPr sz="710" b="1" dirty="0">
                <a:solidFill>
                  <a:srgbClr val="1E293B"/>
                </a:solidFill>
              </a:rPr>
              <a:t>• Ayushman Bharat Digital Mission (ABDM): </a:t>
            </a:r>
            <a:r>
              <a:rPr sz="680" dirty="0">
                <a:solidFill>
                  <a:srgbClr val="475569"/>
                </a:solidFill>
              </a:rPr>
              <a:t>National Health Authority &amp; </a:t>
            </a:r>
            <a:r>
              <a:rPr sz="680" dirty="0" err="1">
                <a:solidFill>
                  <a:srgbClr val="475569"/>
                </a:solidFill>
              </a:rPr>
              <a:t>MoHFW</a:t>
            </a:r>
            <a:r>
              <a:rPr sz="680" dirty="0">
                <a:solidFill>
                  <a:srgbClr val="475569"/>
                </a:solidFill>
              </a:rPr>
              <a:t>, Govt. of India (2021–2024). Operational Guidelines &amp; Unified Health Interface (UHI) interoperability standards for wearable integration. </a:t>
            </a:r>
            <a:r>
              <a:rPr sz="630" i="1" dirty="0">
                <a:solidFill>
                  <a:srgbClr val="94A3B8"/>
                </a:solidFill>
              </a:rPr>
              <a:t>[Source: abdm.gov.in / pib.gov.in]</a:t>
            </a:r>
          </a:p>
          <a:p>
            <a:pPr>
              <a:spcAft>
                <a:spcPts val="350"/>
              </a:spcAft>
            </a:pPr>
            <a:r>
              <a:rPr sz="710" b="1" dirty="0">
                <a:solidFill>
                  <a:srgbClr val="1E293B"/>
                </a:solidFill>
              </a:rPr>
              <a:t>• Digital Personal Data Protection (DPDP) Act, 2023: </a:t>
            </a:r>
            <a:r>
              <a:rPr sz="680" dirty="0">
                <a:solidFill>
                  <a:srgbClr val="475569"/>
                </a:solidFill>
              </a:rPr>
              <a:t>Ministry of Law &amp; Justice, Govt. of India (Aug 2023). Statutory compliance for on-device edge processing, user data minimization, and privacy-first architecture. </a:t>
            </a:r>
            <a:r>
              <a:rPr sz="630" i="1" dirty="0">
                <a:solidFill>
                  <a:srgbClr val="94A3B8"/>
                </a:solidFill>
              </a:rPr>
              <a:t>[Source: meity.gov.in / egazette.gov.in]</a:t>
            </a:r>
          </a:p>
          <a:p>
            <a:pPr>
              <a:spcAft>
                <a:spcPts val="350"/>
              </a:spcAft>
            </a:pPr>
            <a:r>
              <a:rPr sz="710" b="1" dirty="0">
                <a:solidFill>
                  <a:srgbClr val="1E293B"/>
                </a:solidFill>
              </a:rPr>
              <a:t>• National </a:t>
            </a:r>
            <a:r>
              <a:rPr sz="710" b="1" dirty="0" err="1">
                <a:solidFill>
                  <a:srgbClr val="1E293B"/>
                </a:solidFill>
              </a:rPr>
              <a:t>Programme</a:t>
            </a:r>
            <a:r>
              <a:rPr sz="710" b="1" dirty="0">
                <a:solidFill>
                  <a:srgbClr val="1E293B"/>
                </a:solidFill>
              </a:rPr>
              <a:t> on Climate Change &amp; Human Health (NPCCHH): </a:t>
            </a:r>
            <a:r>
              <a:rPr sz="680" dirty="0">
                <a:solidFill>
                  <a:srgbClr val="475569"/>
                </a:solidFill>
              </a:rPr>
              <a:t>NCDC &amp; </a:t>
            </a:r>
            <a:r>
              <a:rPr sz="680" dirty="0" err="1">
                <a:solidFill>
                  <a:srgbClr val="475569"/>
                </a:solidFill>
              </a:rPr>
              <a:t>MoHFW</a:t>
            </a:r>
            <a:r>
              <a:rPr sz="680" dirty="0">
                <a:solidFill>
                  <a:srgbClr val="475569"/>
                </a:solidFill>
              </a:rPr>
              <a:t>, Govt. of India (2019–2024). Standard surveillance protocols for extreme heatwave indices and climate-sensitive physiological risk warnings. </a:t>
            </a:r>
            <a:r>
              <a:rPr sz="630" i="1" dirty="0">
                <a:solidFill>
                  <a:srgbClr val="94A3B8"/>
                </a:solidFill>
              </a:rPr>
              <a:t>[Source: ncdc.mohfw.gov.in]</a:t>
            </a:r>
          </a:p>
          <a:p>
            <a:pPr>
              <a:spcAft>
                <a:spcPts val="350"/>
              </a:spcAft>
            </a:pPr>
            <a:r>
              <a:rPr sz="710" b="1" dirty="0">
                <a:solidFill>
                  <a:srgbClr val="1E293B"/>
                </a:solidFill>
              </a:rPr>
              <a:t>• NDMA &amp; Dept. of Telecommunications (DoT): </a:t>
            </a:r>
            <a:r>
              <a:rPr sz="680" dirty="0">
                <a:solidFill>
                  <a:srgbClr val="475569"/>
                </a:solidFill>
              </a:rPr>
              <a:t>National Disaster Management Authority (2023–2024). Common Alerting Protocol (CAP) &amp; Cell Broadcast emergency warning architecture. </a:t>
            </a:r>
            <a:r>
              <a:rPr sz="630" i="1" dirty="0">
                <a:solidFill>
                  <a:srgbClr val="94A3B8"/>
                </a:solidFill>
              </a:rPr>
              <a:t>[Source: ndma.gov.in]</a:t>
            </a:r>
          </a:p>
          <a:p>
            <a:pPr>
              <a:spcBef>
                <a:spcPts val="400"/>
              </a:spcBef>
              <a:spcAft>
                <a:spcPts val="300"/>
              </a:spcAft>
              <a:defRPr sz="819" b="1">
                <a:solidFill>
                  <a:srgbClr val="0F172A"/>
                </a:solidFill>
              </a:defRPr>
            </a:pPr>
            <a:r>
              <a:rPr u="sng" dirty="0"/>
              <a:t>PEER-REVIEWED TECHNICAL RESEARCH REFERENCES</a:t>
            </a:r>
          </a:p>
          <a:p>
            <a:pPr>
              <a:spcAft>
                <a:spcPts val="350"/>
              </a:spcAft>
            </a:pPr>
            <a:r>
              <a:rPr sz="710" b="1" dirty="0">
                <a:solidFill>
                  <a:srgbClr val="1E293B"/>
                </a:solidFill>
              </a:rPr>
              <a:t>• Wearable Optical Photoplethysmography (PPG &amp; SpO₂): </a:t>
            </a:r>
            <a:r>
              <a:rPr sz="680" dirty="0">
                <a:solidFill>
                  <a:srgbClr val="475569"/>
                </a:solidFill>
              </a:rPr>
              <a:t>Tamura, T., et al. (2014). 'Wearable </a:t>
            </a:r>
            <a:r>
              <a:rPr sz="680" dirty="0" err="1">
                <a:solidFill>
                  <a:srgbClr val="475569"/>
                </a:solidFill>
              </a:rPr>
              <a:t>Photoplethysmographic</a:t>
            </a:r>
            <a:r>
              <a:rPr sz="680" dirty="0">
                <a:solidFill>
                  <a:srgbClr val="475569"/>
                </a:solidFill>
              </a:rPr>
              <a:t> Sensors—Past and Present.' Electronics, 3(2), 282–302. </a:t>
            </a:r>
            <a:r>
              <a:rPr sz="650" i="1" dirty="0">
                <a:solidFill>
                  <a:srgbClr val="64748B"/>
                </a:solidFill>
              </a:rPr>
              <a:t>— Validates reflective pulse oximetry on wrist.</a:t>
            </a:r>
          </a:p>
          <a:p>
            <a:pPr>
              <a:spcAft>
                <a:spcPts val="350"/>
              </a:spcAft>
            </a:pPr>
            <a:r>
              <a:rPr sz="710" b="1" dirty="0">
                <a:solidFill>
                  <a:srgbClr val="1E293B"/>
                </a:solidFill>
              </a:rPr>
              <a:t>• HRV RMSSD &amp; GSR-Free Stress Quantification: </a:t>
            </a:r>
            <a:r>
              <a:rPr sz="680" dirty="0">
                <a:solidFill>
                  <a:srgbClr val="475569"/>
                </a:solidFill>
              </a:rPr>
              <a:t>Shaffer, F., &amp; Ginsberg, J. P. (2017). 'An Overview of Heart Rate Variability Metrics and Norms.' Front. Public Health, 5:258. </a:t>
            </a:r>
            <a:r>
              <a:rPr sz="650" i="1" dirty="0">
                <a:solidFill>
                  <a:srgbClr val="64748B"/>
                </a:solidFill>
              </a:rPr>
              <a:t>— Establishes baseline drift without GSR.</a:t>
            </a:r>
          </a:p>
          <a:p>
            <a:pPr>
              <a:spcAft>
                <a:spcPts val="350"/>
              </a:spcAft>
            </a:pPr>
            <a:r>
              <a:rPr sz="710" b="1" dirty="0">
                <a:solidFill>
                  <a:srgbClr val="1E293B"/>
                </a:solidFill>
              </a:rPr>
              <a:t>• Tri-Axial Accelerometry &amp; Inertial Fall Detection: </a:t>
            </a:r>
            <a:r>
              <a:rPr sz="680" dirty="0" err="1">
                <a:solidFill>
                  <a:srgbClr val="475569"/>
                </a:solidFill>
              </a:rPr>
              <a:t>Igual</a:t>
            </a:r>
            <a:r>
              <a:rPr sz="680" dirty="0">
                <a:solidFill>
                  <a:srgbClr val="475569"/>
                </a:solidFill>
              </a:rPr>
              <a:t>, R., et al. (2013). 'Challenges, issues and trends in fall detection systems.' Biomed. Eng. </a:t>
            </a:r>
            <a:r>
              <a:rPr sz="680" dirty="0" err="1">
                <a:solidFill>
                  <a:srgbClr val="475569"/>
                </a:solidFill>
              </a:rPr>
              <a:t>OnLine</a:t>
            </a:r>
            <a:r>
              <a:rPr sz="680" dirty="0">
                <a:solidFill>
                  <a:srgbClr val="475569"/>
                </a:solidFill>
              </a:rPr>
              <a:t>, 12:66. </a:t>
            </a:r>
            <a:r>
              <a:rPr sz="650" i="1" dirty="0">
                <a:solidFill>
                  <a:srgbClr val="64748B"/>
                </a:solidFill>
              </a:rPr>
              <a:t>— Informs MPU6050 impact vector thresholds.</a:t>
            </a:r>
          </a:p>
          <a:p>
            <a:pPr>
              <a:spcAft>
                <a:spcPts val="350"/>
              </a:spcAft>
            </a:pPr>
            <a:r>
              <a:rPr sz="710" b="1" dirty="0">
                <a:solidFill>
                  <a:srgbClr val="1E293B"/>
                </a:solidFill>
              </a:rPr>
              <a:t>• Edge AI, </a:t>
            </a:r>
            <a:r>
              <a:rPr sz="710" b="1" dirty="0" err="1">
                <a:solidFill>
                  <a:srgbClr val="1E293B"/>
                </a:solidFill>
              </a:rPr>
              <a:t>TinyML</a:t>
            </a:r>
            <a:r>
              <a:rPr sz="710" b="1" dirty="0">
                <a:solidFill>
                  <a:srgbClr val="1E293B"/>
                </a:solidFill>
              </a:rPr>
              <a:t> &amp; Ultra-Low-Power Embedded ML: </a:t>
            </a:r>
            <a:r>
              <a:rPr sz="680" dirty="0">
                <a:solidFill>
                  <a:srgbClr val="475569"/>
                </a:solidFill>
              </a:rPr>
              <a:t>Ray, P. P. (2021). 'A Review on </a:t>
            </a:r>
            <a:r>
              <a:rPr sz="680" dirty="0" err="1">
                <a:solidFill>
                  <a:srgbClr val="475569"/>
                </a:solidFill>
              </a:rPr>
              <a:t>TinyML</a:t>
            </a:r>
            <a:r>
              <a:rPr sz="680" dirty="0">
                <a:solidFill>
                  <a:srgbClr val="475569"/>
                </a:solidFill>
              </a:rPr>
              <a:t>: State-of-the-Art and Advances.' J. King Saud Univ. - CIS, 34(6), 1595–1623. </a:t>
            </a:r>
            <a:r>
              <a:rPr sz="650" i="1" dirty="0">
                <a:solidFill>
                  <a:srgbClr val="64748B"/>
                </a:solidFill>
              </a:rPr>
              <a:t>— Validates on-device inference on ESP32 MCU.</a:t>
            </a:r>
          </a:p>
          <a:p>
            <a:pPr>
              <a:spcAft>
                <a:spcPts val="350"/>
              </a:spcAft>
            </a:pPr>
            <a:r>
              <a:rPr sz="710" b="1" dirty="0">
                <a:solidFill>
                  <a:srgbClr val="1E293B"/>
                </a:solidFill>
              </a:rPr>
              <a:t>• Long-Range Low-Power Disaster Telemetry (LoRa): </a:t>
            </a:r>
            <a:r>
              <a:rPr sz="680" dirty="0">
                <a:solidFill>
                  <a:srgbClr val="475569"/>
                </a:solidFill>
              </a:rPr>
              <a:t>Augustin, A., et al. (2016). 'A Study of LoRa: Long Range &amp; Low Power Networks for IoT.' Sensors, 16(9), 1466. </a:t>
            </a:r>
            <a:r>
              <a:rPr sz="650" i="1" dirty="0">
                <a:solidFill>
                  <a:srgbClr val="64748B"/>
                </a:solidFill>
              </a:rPr>
              <a:t>— Validates sub-GHz offline emergency broadcast.</a:t>
            </a:r>
          </a:p>
        </p:txBody>
      </p:sp>
      <p:sp>
        <p:nvSpPr>
          <p:cNvPr id="9" name="TextBox 8">
            <a:extLst>
              <a:ext uri="{FF2B5EF4-FFF2-40B4-BE49-F238E27FC236}">
                <a16:creationId xmlns:a16="http://schemas.microsoft.com/office/drawing/2014/main" id="{A3DA5828-B1F8-E378-43C0-C86E3EDBA353}"/>
              </a:ext>
            </a:extLst>
          </p:cNvPr>
          <p:cNvSpPr txBox="1"/>
          <p:nvPr/>
        </p:nvSpPr>
        <p:spPr>
          <a:xfrm>
            <a:off x="6131379" y="769345"/>
            <a:ext cx="1309182" cy="307777"/>
          </a:xfrm>
          <a:prstGeom prst="rect">
            <a:avLst/>
          </a:prstGeom>
          <a:noFill/>
        </p:spPr>
        <p:txBody>
          <a:bodyPr wrap="square">
            <a:spAutoFit/>
          </a:bodyPr>
          <a:lstStyle/>
          <a:p>
            <a:r>
              <a:rPr lang="en-US" b="1" dirty="0">
                <a:solidFill>
                  <a:schemeClr val="tx1"/>
                </a:solidFill>
                <a:latin typeface="Cambria" panose="02040503050406030204" pitchFamily="18" charset="0"/>
                <a:ea typeface="Cambria" panose="02040503050406030204" pitchFamily="18" charset="0"/>
                <a:cs typeface="Calibri" panose="020F0502020204030204" pitchFamily="34" charset="0"/>
              </a:rPr>
              <a:t>REFERENCES</a:t>
            </a:r>
            <a:endParaRPr lang="en-IN" b="1" dirty="0">
              <a:solidFill>
                <a:schemeClr val="tx1"/>
              </a:solidFill>
              <a:latin typeface="Cambria" panose="02040503050406030204" pitchFamily="18" charset="0"/>
              <a:ea typeface="Cambria" panose="02040503050406030204" pitchFamily="18" charset="0"/>
              <a:cs typeface="Calibri" panose="020F0502020204030204" pitchFamily="34" charset="0"/>
            </a:endParaRPr>
          </a:p>
        </p:txBody>
      </p:sp>
      <p:pic>
        <p:nvPicPr>
          <p:cNvPr id="10" name="Picture 9">
            <a:extLst>
              <a:ext uri="{FF2B5EF4-FFF2-40B4-BE49-F238E27FC236}">
                <a16:creationId xmlns:a16="http://schemas.microsoft.com/office/drawing/2014/main" id="{77257931-98E1-98ED-F55D-47D870D52E6C}"/>
              </a:ext>
            </a:extLst>
          </p:cNvPr>
          <p:cNvPicPr>
            <a:picLocks noChangeAspect="1"/>
          </p:cNvPicPr>
          <p:nvPr/>
        </p:nvPicPr>
        <p:blipFill>
          <a:blip r:embed="rId3"/>
          <a:stretch>
            <a:fillRect/>
          </a:stretch>
        </p:blipFill>
        <p:spPr>
          <a:xfrm>
            <a:off x="204766" y="63717"/>
            <a:ext cx="728891" cy="616513"/>
          </a:xfrm>
          <a:prstGeom prst="rect">
            <a:avLst/>
          </a:prstGeom>
        </p:spPr>
      </p:pic>
      <p:sp>
        <p:nvSpPr>
          <p:cNvPr id="270" name="TextBox 269"/>
          <p:cNvSpPr txBox="1"/>
          <p:nvPr/>
        </p:nvSpPr>
        <p:spPr>
          <a:xfrm>
            <a:off x="354330" y="4818888"/>
            <a:ext cx="8412480" cy="256032"/>
          </a:xfrm>
          <a:prstGeom prst="rect">
            <a:avLst/>
          </a:prstGeom>
          <a:noFill/>
        </p:spPr>
        <p:txBody>
          <a:bodyPr wrap="none" lIns="0" tIns="0" rIns="0" bIns="0">
            <a:spAutoFit/>
          </a:bodyPr>
          <a:lstStyle/>
          <a:p>
            <a:pPr algn="ctr">
              <a:defRPr sz="750" b="1">
                <a:solidFill>
                  <a:srgbClr val="1E293B"/>
                </a:solidFill>
              </a:defRPr>
            </a:pPr>
            <a:r>
              <a:rPr dirty="0"/>
              <a:t>Thank You  |  Team STRAW HATS  |  AERIS: Edge-AI Personal Health &amp; Environmental Monitoring System</a:t>
            </a:r>
          </a:p>
        </p:txBody>
      </p:sp>
      <p:sp>
        <p:nvSpPr>
          <p:cNvPr id="7" name="TextBox 6">
            <a:extLst>
              <a:ext uri="{FF2B5EF4-FFF2-40B4-BE49-F238E27FC236}">
                <a16:creationId xmlns:a16="http://schemas.microsoft.com/office/drawing/2014/main" id="{1E785A26-BA68-F54A-208F-D2AE410ACB50}"/>
              </a:ext>
            </a:extLst>
          </p:cNvPr>
          <p:cNvSpPr txBox="1"/>
          <p:nvPr/>
        </p:nvSpPr>
        <p:spPr>
          <a:xfrm>
            <a:off x="4393094" y="4450844"/>
            <a:ext cx="2773516" cy="461665"/>
          </a:xfrm>
          <a:prstGeom prst="rect">
            <a:avLst/>
          </a:prstGeom>
          <a:noFill/>
        </p:spPr>
        <p:txBody>
          <a:bodyPr wrap="none" rtlCol="0">
            <a:spAutoFit/>
          </a:bodyPr>
          <a:lstStyle/>
          <a:p>
            <a:r>
              <a:rPr lang="en-IN" sz="1200" dirty="0">
                <a:hlinkClick r:id="rId4"/>
              </a:rPr>
              <a:t>🌐 Project Website</a:t>
            </a:r>
            <a:r>
              <a:rPr lang="en-IN" sz="1200" dirty="0"/>
              <a:t>   </a:t>
            </a:r>
            <a:r>
              <a:rPr lang="en-IN" sz="1200" b="1" dirty="0">
                <a:hlinkClick r:id="rId5"/>
              </a:rPr>
              <a:t>🔧 </a:t>
            </a:r>
            <a:r>
              <a:rPr lang="en-IN" sz="1200" dirty="0">
                <a:hlinkClick r:id="rId5"/>
              </a:rPr>
              <a:t>PCB Design</a:t>
            </a:r>
            <a:br>
              <a:rPr lang="en-IN" sz="1200" dirty="0"/>
            </a:b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2354</TotalTime>
  <Words>1468</Words>
  <Application>Microsoft Office PowerPoint</Application>
  <PresentationFormat>On-screen Show (16:9)</PresentationFormat>
  <Paragraphs>170</Paragraphs>
  <Slides>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Arial</vt:lpstr>
      <vt:lpstr>Calibri</vt:lpstr>
      <vt:lpstr>Cambria</vt:lpstr>
      <vt:lpstr>Times New Roman</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vimaleshvimal2006@gmail.com</cp:lastModifiedBy>
  <cp:revision>68</cp:revision>
  <dcterms:modified xsi:type="dcterms:W3CDTF">2026-10-22T04:14:25Z</dcterms:modified>
</cp:coreProperties>
</file>